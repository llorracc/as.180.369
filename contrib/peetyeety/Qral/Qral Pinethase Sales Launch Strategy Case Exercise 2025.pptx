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4"/>
  </p:sldMasterIdLst>
  <p:notesMasterIdLst>
    <p:notesMasterId r:id="rId16"/>
  </p:notesMasterIdLst>
  <p:handoutMasterIdLst>
    <p:handoutMasterId r:id="rId17"/>
  </p:handoutMasterIdLst>
  <p:sldIdLst>
    <p:sldId id="257" r:id="rId5"/>
    <p:sldId id="358" r:id="rId6"/>
    <p:sldId id="357" r:id="rId7"/>
    <p:sldId id="359" r:id="rId8"/>
    <p:sldId id="360" r:id="rId9"/>
    <p:sldId id="348" r:id="rId10"/>
    <p:sldId id="361" r:id="rId11"/>
    <p:sldId id="362" r:id="rId12"/>
    <p:sldId id="367" r:id="rId13"/>
    <p:sldId id="368" r:id="rId14"/>
    <p:sldId id="3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03FDA8-FF02-4DC3-8446-D8AA94C87C36}">
          <p14:sldIdLst>
            <p14:sldId id="257"/>
            <p14:sldId id="358"/>
            <p14:sldId id="357"/>
            <p14:sldId id="359"/>
            <p14:sldId id="360"/>
            <p14:sldId id="348"/>
            <p14:sldId id="361"/>
            <p14:sldId id="362"/>
            <p14:sldId id="367"/>
            <p14:sldId id="368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5A31"/>
    <a:srgbClr val="FFFFFF"/>
    <a:srgbClr val="008080"/>
    <a:srgbClr val="5A245B"/>
    <a:srgbClr val="954F72"/>
    <a:srgbClr val="361537"/>
    <a:srgbClr val="370037"/>
    <a:srgbClr val="4C004C"/>
    <a:srgbClr val="66006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548E2B-B8F7-273B-8A21-B164A97CFC4E}" v="75" dt="2025-08-06T19:22:26.47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716532412734947E-3"/>
          <c:y val="0.28681850350964239"/>
          <c:w val="0.9531565228684733"/>
          <c:h val="0.4734569284899344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100">
              <a:solidFill>
                <a:srgbClr val="954F72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1"/>
                <c:pt idx="0">
                  <c:v>Psoriasis symtoms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8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5</c:v>
                </c:pt>
                <c:pt idx="14">
                  <c:v>6</c:v>
                </c:pt>
                <c:pt idx="15">
                  <c:v>8</c:v>
                </c:pt>
                <c:pt idx="16">
                  <c:v>10</c:v>
                </c:pt>
                <c:pt idx="17">
                  <c:v>11</c:v>
                </c:pt>
                <c:pt idx="18">
                  <c:v>13</c:v>
                </c:pt>
                <c:pt idx="19">
                  <c:v>13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13-4C10-A0C3-9F97AA5B31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975744"/>
        <c:axId val="168983936"/>
      </c:lineChart>
      <c:catAx>
        <c:axId val="16897574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txPr>
          <a:bodyPr/>
          <a:lstStyle/>
          <a:p>
            <a:pPr>
              <a:defRPr lang="ja-JP"/>
            </a:pPr>
            <a:endParaRPr lang="en-US"/>
          </a:p>
        </c:txPr>
        <c:crossAx val="168983936"/>
        <c:crosses val="autoZero"/>
        <c:auto val="1"/>
        <c:lblAlgn val="ctr"/>
        <c:lblOffset val="100"/>
        <c:noMultiLvlLbl val="0"/>
      </c:catAx>
      <c:valAx>
        <c:axId val="168983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689757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716532412734947E-3"/>
          <c:y val="0.28681850350964239"/>
          <c:w val="0.9531565228684733"/>
          <c:h val="0.4734569284899344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100">
              <a:solidFill>
                <a:srgbClr val="954F72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1"/>
                <c:pt idx="0">
                  <c:v>Psoriasis symtoms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8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5</c:v>
                </c:pt>
                <c:pt idx="14">
                  <c:v>6</c:v>
                </c:pt>
                <c:pt idx="15">
                  <c:v>8</c:v>
                </c:pt>
                <c:pt idx="16">
                  <c:v>10</c:v>
                </c:pt>
                <c:pt idx="17">
                  <c:v>9</c:v>
                </c:pt>
                <c:pt idx="18">
                  <c:v>8</c:v>
                </c:pt>
                <c:pt idx="19">
                  <c:v>8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5-472D-8F13-B089C81D2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975744"/>
        <c:axId val="168983936"/>
      </c:lineChart>
      <c:catAx>
        <c:axId val="16897574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txPr>
          <a:bodyPr/>
          <a:lstStyle/>
          <a:p>
            <a:pPr>
              <a:defRPr lang="ja-JP"/>
            </a:pPr>
            <a:endParaRPr lang="en-US"/>
          </a:p>
        </c:txPr>
        <c:crossAx val="168983936"/>
        <c:crosses val="autoZero"/>
        <c:auto val="1"/>
        <c:lblAlgn val="ctr"/>
        <c:lblOffset val="100"/>
        <c:noMultiLvlLbl val="0"/>
      </c:catAx>
      <c:valAx>
        <c:axId val="168983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689757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83351-A65E-4DD1-8F56-F3F31FC45C3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B375E-BC13-4085-8C55-1ECDBFD64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74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30AC5-0549-C24C-AF19-CC908224BE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6E875-D747-3149-874D-B2F9898A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9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F226CF9-7F54-1D41-8942-C73691FE9B46}"/>
              </a:ext>
            </a:extLst>
          </p:cNvPr>
          <p:cNvGrpSpPr/>
          <p:nvPr userDrawn="1"/>
        </p:nvGrpSpPr>
        <p:grpSpPr>
          <a:xfrm>
            <a:off x="1" y="-12470"/>
            <a:ext cx="10082255" cy="6882940"/>
            <a:chOff x="0" y="-12470"/>
            <a:chExt cx="10082254" cy="6882940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EEF590B-0A3E-F445-BDDA-5E70C06ABAF9}"/>
                </a:ext>
              </a:extLst>
            </p:cNvPr>
            <p:cNvSpPr/>
            <p:nvPr/>
          </p:nvSpPr>
          <p:spPr>
            <a:xfrm>
              <a:off x="0" y="-12470"/>
              <a:ext cx="9964911" cy="6882940"/>
            </a:xfrm>
            <a:custGeom>
              <a:avLst/>
              <a:gdLst>
                <a:gd name="connsiteX0" fmla="*/ 0 w 7656074"/>
                <a:gd name="connsiteY0" fmla="*/ 0 h 6858000"/>
                <a:gd name="connsiteX1" fmla="*/ 7656074 w 7656074"/>
                <a:gd name="connsiteY1" fmla="*/ 0 h 6858000"/>
                <a:gd name="connsiteX2" fmla="*/ 5770748 w 7656074"/>
                <a:gd name="connsiteY2" fmla="*/ 6858000 h 6858000"/>
                <a:gd name="connsiteX3" fmla="*/ 0 w 7656074"/>
                <a:gd name="connsiteY3" fmla="*/ 6858000 h 6858000"/>
                <a:gd name="connsiteX4" fmla="*/ 0 w 7656074"/>
                <a:gd name="connsiteY4" fmla="*/ 0 h 6858000"/>
                <a:gd name="connsiteX0" fmla="*/ 0 w 9418372"/>
                <a:gd name="connsiteY0" fmla="*/ 0 h 6874626"/>
                <a:gd name="connsiteX1" fmla="*/ 9418372 w 9418372"/>
                <a:gd name="connsiteY1" fmla="*/ 16626 h 6874626"/>
                <a:gd name="connsiteX2" fmla="*/ 7533046 w 9418372"/>
                <a:gd name="connsiteY2" fmla="*/ 6874626 h 6874626"/>
                <a:gd name="connsiteX3" fmla="*/ 1762298 w 9418372"/>
                <a:gd name="connsiteY3" fmla="*/ 6874626 h 6874626"/>
                <a:gd name="connsiteX4" fmla="*/ 0 w 9418372"/>
                <a:gd name="connsiteY4" fmla="*/ 0 h 6874626"/>
                <a:gd name="connsiteX0" fmla="*/ 1 w 9418373"/>
                <a:gd name="connsiteY0" fmla="*/ 0 h 6882939"/>
                <a:gd name="connsiteX1" fmla="*/ 9418373 w 9418373"/>
                <a:gd name="connsiteY1" fmla="*/ 16626 h 6882939"/>
                <a:gd name="connsiteX2" fmla="*/ 7533047 w 9418373"/>
                <a:gd name="connsiteY2" fmla="*/ 6874626 h 6882939"/>
                <a:gd name="connsiteX3" fmla="*/ 0 w 9418373"/>
                <a:gd name="connsiteY3" fmla="*/ 6882939 h 6882939"/>
                <a:gd name="connsiteX4" fmla="*/ 1 w 9418373"/>
                <a:gd name="connsiteY4" fmla="*/ 0 h 688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8373" h="6882939">
                  <a:moveTo>
                    <a:pt x="1" y="0"/>
                  </a:moveTo>
                  <a:lnTo>
                    <a:pt x="9418373" y="16626"/>
                  </a:lnTo>
                  <a:lnTo>
                    <a:pt x="7533047" y="6874626"/>
                  </a:lnTo>
                  <a:lnTo>
                    <a:pt x="0" y="6882939"/>
                  </a:lnTo>
                  <a:cubicBezTo>
                    <a:pt x="0" y="4588626"/>
                    <a:pt x="1" y="2294313"/>
                    <a:pt x="1" y="0"/>
                  </a:cubicBezTo>
                  <a:close/>
                </a:path>
              </a:pathLst>
            </a:custGeom>
            <a:solidFill>
              <a:srgbClr val="435469">
                <a:lumMod val="20000"/>
                <a:lumOff val="80000"/>
                <a:alpha val="43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rIns="91440" rtlCol="0" anchor="ctr">
              <a:noAutofit/>
            </a:bodyPr>
            <a:lstStyle/>
            <a:p>
              <a:pPr marL="0" marR="0" lvl="0" indent="0" algn="ctr" defTabSz="5143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435469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E9B08F6-31D3-A44E-9256-EC67A8343A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2037" y="-12470"/>
              <a:ext cx="1990217" cy="6874627"/>
            </a:xfrm>
            <a:prstGeom prst="line">
              <a:avLst/>
            </a:prstGeom>
            <a:noFill/>
            <a:ln w="9525" cap="flat" cmpd="sng" algn="ctr">
              <a:solidFill>
                <a:srgbClr val="435469">
                  <a:lumMod val="20000"/>
                  <a:lumOff val="80000"/>
                  <a:alpha val="30000"/>
                </a:srgbClr>
              </a:solidFill>
              <a:prstDash val="solid"/>
            </a:ln>
            <a:effectLst/>
          </p:spPr>
        </p:cxn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C0A2C331-09C0-8C43-9A46-4815614E21B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77839" y="1274234"/>
            <a:ext cx="7599387" cy="16557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80000"/>
              </a:lnSpc>
              <a:defRPr sz="3450" b="1" cap="all" spc="-30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title style can be two lines</a:t>
            </a: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5ADB66DB-8A09-5E4E-9912-D530D44E723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09613" y="4249137"/>
            <a:ext cx="3786187" cy="2698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40000"/>
                  <a:lumOff val="60000"/>
                </a:schemeClr>
              </a:buClr>
              <a:buSzPct val="110000"/>
              <a:buFont typeface="Wingdings" pitchFamily="2" charset="2"/>
              <a:buNone/>
              <a:defRPr lang="en-US" sz="900" kern="1200" dirty="0" smtClean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[Month 00, YYYY]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1DEB13-8472-0548-8B82-120B188E6A96}"/>
              </a:ext>
            </a:extLst>
          </p:cNvPr>
          <p:cNvSpPr txBox="1"/>
          <p:nvPr userDrawn="1"/>
        </p:nvSpPr>
        <p:spPr>
          <a:xfrm>
            <a:off x="708835" y="6332848"/>
            <a:ext cx="1602764" cy="1825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SzPct val="110000"/>
              <a:buFont typeface="Wingdings" pitchFamily="2" charset="2"/>
              <a:buNone/>
            </a:pPr>
            <a:r>
              <a:rPr lang="en-US" sz="675">
                <a:solidFill>
                  <a:schemeClr val="accent2">
                    <a:lumMod val="75000"/>
                  </a:schemeClr>
                </a:solidFill>
              </a:rPr>
              <a:t>Confidential &amp; proprietary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064D3AA-42C0-9B4C-8084-AD0D97CBDB45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708835" y="3061679"/>
            <a:ext cx="7568391" cy="70349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05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a subtitle in this box; the subtitle can consist of two lines and wrap to a second line as you can see in this example</a:t>
            </a:r>
            <a:endParaRPr lang="en-US"/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F44E3B-5853-C648-A6E8-C66CFDD234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636" y="6228295"/>
            <a:ext cx="1147448" cy="28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25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40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F858FD-B70F-7F4B-929E-5991D24A482B}"/>
              </a:ext>
            </a:extLst>
          </p:cNvPr>
          <p:cNvCxnSpPr>
            <a:cxnSpLocks/>
          </p:cNvCxnSpPr>
          <p:nvPr userDrawn="1"/>
        </p:nvCxnSpPr>
        <p:spPr>
          <a:xfrm>
            <a:off x="10268883" y="6089796"/>
            <a:ext cx="0" cy="497613"/>
          </a:xfrm>
          <a:prstGeom prst="line">
            <a:avLst/>
          </a:prstGeom>
          <a:ln>
            <a:solidFill>
              <a:schemeClr val="tx2">
                <a:alpha val="2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625475-1299-3D43-91E2-07E5A07F9DF2}"/>
              </a:ext>
            </a:extLst>
          </p:cNvPr>
          <p:cNvGrpSpPr/>
          <p:nvPr userDrawn="1"/>
        </p:nvGrpSpPr>
        <p:grpSpPr>
          <a:xfrm>
            <a:off x="1" y="-12470"/>
            <a:ext cx="10082255" cy="6882940"/>
            <a:chOff x="0" y="-12470"/>
            <a:chExt cx="10082254" cy="6882940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9FC8CBB-0DD7-8C42-9DDD-3BFDB7837A05}"/>
                </a:ext>
              </a:extLst>
            </p:cNvPr>
            <p:cNvSpPr/>
            <p:nvPr/>
          </p:nvSpPr>
          <p:spPr>
            <a:xfrm>
              <a:off x="0" y="-12470"/>
              <a:ext cx="9964911" cy="6882940"/>
            </a:xfrm>
            <a:custGeom>
              <a:avLst/>
              <a:gdLst>
                <a:gd name="connsiteX0" fmla="*/ 0 w 7656074"/>
                <a:gd name="connsiteY0" fmla="*/ 0 h 6858000"/>
                <a:gd name="connsiteX1" fmla="*/ 7656074 w 7656074"/>
                <a:gd name="connsiteY1" fmla="*/ 0 h 6858000"/>
                <a:gd name="connsiteX2" fmla="*/ 5770748 w 7656074"/>
                <a:gd name="connsiteY2" fmla="*/ 6858000 h 6858000"/>
                <a:gd name="connsiteX3" fmla="*/ 0 w 7656074"/>
                <a:gd name="connsiteY3" fmla="*/ 6858000 h 6858000"/>
                <a:gd name="connsiteX4" fmla="*/ 0 w 7656074"/>
                <a:gd name="connsiteY4" fmla="*/ 0 h 6858000"/>
                <a:gd name="connsiteX0" fmla="*/ 0 w 9418372"/>
                <a:gd name="connsiteY0" fmla="*/ 0 h 6874626"/>
                <a:gd name="connsiteX1" fmla="*/ 9418372 w 9418372"/>
                <a:gd name="connsiteY1" fmla="*/ 16626 h 6874626"/>
                <a:gd name="connsiteX2" fmla="*/ 7533046 w 9418372"/>
                <a:gd name="connsiteY2" fmla="*/ 6874626 h 6874626"/>
                <a:gd name="connsiteX3" fmla="*/ 1762298 w 9418372"/>
                <a:gd name="connsiteY3" fmla="*/ 6874626 h 6874626"/>
                <a:gd name="connsiteX4" fmla="*/ 0 w 9418372"/>
                <a:gd name="connsiteY4" fmla="*/ 0 h 6874626"/>
                <a:gd name="connsiteX0" fmla="*/ 1 w 9418373"/>
                <a:gd name="connsiteY0" fmla="*/ 0 h 6882939"/>
                <a:gd name="connsiteX1" fmla="*/ 9418373 w 9418373"/>
                <a:gd name="connsiteY1" fmla="*/ 16626 h 6882939"/>
                <a:gd name="connsiteX2" fmla="*/ 7533047 w 9418373"/>
                <a:gd name="connsiteY2" fmla="*/ 6874626 h 6882939"/>
                <a:gd name="connsiteX3" fmla="*/ 0 w 9418373"/>
                <a:gd name="connsiteY3" fmla="*/ 6882939 h 6882939"/>
                <a:gd name="connsiteX4" fmla="*/ 1 w 9418373"/>
                <a:gd name="connsiteY4" fmla="*/ 0 h 688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8373" h="6882939">
                  <a:moveTo>
                    <a:pt x="1" y="0"/>
                  </a:moveTo>
                  <a:lnTo>
                    <a:pt x="9418373" y="16626"/>
                  </a:lnTo>
                  <a:lnTo>
                    <a:pt x="7533047" y="6874626"/>
                  </a:lnTo>
                  <a:lnTo>
                    <a:pt x="0" y="6882939"/>
                  </a:lnTo>
                  <a:cubicBezTo>
                    <a:pt x="0" y="4588626"/>
                    <a:pt x="1" y="2294313"/>
                    <a:pt x="1" y="0"/>
                  </a:cubicBezTo>
                  <a:close/>
                </a:path>
              </a:pathLst>
            </a:custGeom>
            <a:solidFill>
              <a:srgbClr val="435469">
                <a:lumMod val="20000"/>
                <a:lumOff val="80000"/>
                <a:alpha val="43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91440" rIns="91440" rtlCol="0" anchor="ctr">
              <a:noAutofit/>
            </a:bodyPr>
            <a:lstStyle/>
            <a:p>
              <a:pPr marL="0" marR="0" lvl="0" indent="0" algn="ctr" defTabSz="5143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435469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E6AFF2-8870-0D45-A474-2F192F81E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2037" y="-12470"/>
              <a:ext cx="1990217" cy="6874627"/>
            </a:xfrm>
            <a:prstGeom prst="line">
              <a:avLst/>
            </a:prstGeom>
            <a:noFill/>
            <a:ln w="9525" cap="flat" cmpd="sng" algn="ctr">
              <a:solidFill>
                <a:srgbClr val="435469">
                  <a:lumMod val="20000"/>
                  <a:lumOff val="80000"/>
                  <a:alpha val="30000"/>
                </a:srgbClr>
              </a:solidFill>
              <a:prstDash val="solid"/>
            </a:ln>
            <a:effectLst/>
          </p:spPr>
        </p:cxnSp>
      </p:grp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4C1B8F0-55E6-BD4D-88D4-5CB5F27866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636" y="6228295"/>
            <a:ext cx="1147448" cy="28824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DE6D9F-E871-CA41-AE79-E7094D75BE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694932" y="6048818"/>
            <a:ext cx="1403339" cy="5654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525"/>
            </a:lvl1pPr>
          </a:lstStyle>
          <a:p>
            <a:r>
              <a:rPr lang="en-US"/>
              <a:t>Client logo can go here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EA8922D9-1854-EA4F-A696-89605A7A84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7839" y="1274234"/>
            <a:ext cx="7599387" cy="165576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80000"/>
              </a:lnSpc>
              <a:defRPr sz="3450" b="1" cap="all" spc="-30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title style can be two lines</a:t>
            </a:r>
            <a:endParaRPr lang="en-US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2A645DF6-7040-0A49-B79D-CFCB13F45F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8835" y="3061679"/>
            <a:ext cx="7568391" cy="70349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05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a subtitle in this box; the subtitle can consist of two lines and wrap to a second line as you can see in this example</a:t>
            </a:r>
            <a:endParaRPr lang="en-US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F34BA36-1635-854D-84D4-A96F77C919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613" y="4249137"/>
            <a:ext cx="3786187" cy="2698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40000"/>
                  <a:lumOff val="60000"/>
                </a:schemeClr>
              </a:buClr>
              <a:buSzPct val="110000"/>
              <a:buFont typeface="Wingdings" pitchFamily="2" charset="2"/>
              <a:buNone/>
              <a:defRPr lang="en-US" sz="900" kern="1200" dirty="0" smtClean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[Month 00, YYYY]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9D9A6-A04A-C748-B3C0-0826E1F49FDA}"/>
              </a:ext>
            </a:extLst>
          </p:cNvPr>
          <p:cNvSpPr txBox="1"/>
          <p:nvPr userDrawn="1"/>
        </p:nvSpPr>
        <p:spPr>
          <a:xfrm>
            <a:off x="708835" y="6332848"/>
            <a:ext cx="1602764" cy="1825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SzPct val="110000"/>
              <a:buFont typeface="Wingdings" pitchFamily="2" charset="2"/>
              <a:buNone/>
            </a:pPr>
            <a:r>
              <a:rPr lang="en-US" sz="675">
                <a:solidFill>
                  <a:schemeClr val="accent2">
                    <a:lumMod val="75000"/>
                  </a:schemeClr>
                </a:solidFill>
              </a:rPr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621840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40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2D16C8A-070B-6E44-813A-9A43802407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0366FC-538C-124A-B57E-3523C37C77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7841" y="1995761"/>
            <a:ext cx="6760191" cy="1655762"/>
          </a:xfrm>
          <a:prstGeom prst="rect">
            <a:avLst/>
          </a:prstGeom>
        </p:spPr>
        <p:txBody>
          <a:bodyPr anchor="b"/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450" b="1" kern="1200" cap="all" baseline="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divider slide style</a:t>
            </a:r>
            <a:br>
              <a:rPr lang="en-GB"/>
            </a:br>
            <a:r>
              <a:rPr lang="en-GB"/>
              <a:t>Click to edit</a:t>
            </a:r>
            <a:endParaRPr lang="en-US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995F7C2-B4CA-1C48-8FEA-4E4C703FD2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6466" y="6601300"/>
            <a:ext cx="604831" cy="1475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06DA0A-D473-1D4A-A2E0-6C217D82B8E5}"/>
              </a:ext>
            </a:extLst>
          </p:cNvPr>
          <p:cNvSpPr txBox="1"/>
          <p:nvPr userDrawn="1"/>
        </p:nvSpPr>
        <p:spPr>
          <a:xfrm>
            <a:off x="11353801" y="6606061"/>
            <a:ext cx="381465" cy="16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CC437E41-2C6E-1A42-B1BE-C25975A4A367}" type="slidenum">
              <a:rPr lang="en-IN" sz="600" smtClean="0"/>
              <a:pPr algn="r"/>
              <a:t>‹#›</a:t>
            </a:fld>
            <a:endParaRPr lang="en-IN" sz="6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94DE91-B6EC-A248-BAF6-F01BD1FC9553}"/>
              </a:ext>
            </a:extLst>
          </p:cNvPr>
          <p:cNvCxnSpPr>
            <a:cxnSpLocks/>
          </p:cNvCxnSpPr>
          <p:nvPr userDrawn="1"/>
        </p:nvCxnSpPr>
        <p:spPr>
          <a:xfrm>
            <a:off x="11425731" y="6580716"/>
            <a:ext cx="0" cy="164592"/>
          </a:xfrm>
          <a:prstGeom prst="line">
            <a:avLst/>
          </a:prstGeom>
          <a:ln>
            <a:solidFill>
              <a:schemeClr val="tx2">
                <a:alpha val="2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21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05802" y="1618548"/>
            <a:ext cx="10528999" cy="42222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marR="0" indent="-171450" algn="l" defTabSz="685800" rtl="0" eaLnBrk="1" fontAlgn="auto" latinLnBrk="0" hangingPunct="1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Pct val="110000"/>
              <a:buFont typeface="Wingdings" pitchFamily="2" charset="2"/>
              <a:buChar char="§"/>
              <a:tabLst/>
              <a:defRPr lang="en-GB" sz="1050" dirty="0"/>
            </a:lvl1pPr>
            <a:lvl2pPr marL="345281" marR="0" indent="-172641" algn="l" defTabSz="685800" rtl="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GB" sz="900" dirty="0"/>
            </a:lvl2pPr>
            <a:lvl3pPr marL="519113" marR="0" indent="-173831" algn="l" defTabSz="685800" rtl="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GB" sz="825" dirty="0"/>
            </a:lvl3pPr>
            <a:lvl4pPr marL="685800" marR="0" indent="-154781" algn="l" defTabSz="685800" rtl="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GB" sz="788" dirty="0"/>
            </a:lvl4pPr>
            <a:lvl5pPr marL="859631" marR="0" indent="-173831" algn="l" defTabSz="685800" rtl="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402DC8-0DB8-0546-AA22-2330E407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174" y="812732"/>
            <a:ext cx="1242285" cy="203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75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AGENDA</a:t>
            </a:r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DCB42C-785E-9B49-AAA4-7DC38924BEE4}"/>
              </a:ext>
            </a:extLst>
          </p:cNvPr>
          <p:cNvSpPr/>
          <p:nvPr userDrawn="1"/>
        </p:nvSpPr>
        <p:spPr>
          <a:xfrm flipH="1">
            <a:off x="-1" y="784812"/>
            <a:ext cx="1813933" cy="256032"/>
          </a:xfrm>
          <a:custGeom>
            <a:avLst/>
            <a:gdLst>
              <a:gd name="connsiteX0" fmla="*/ 0 w 7161451"/>
              <a:gd name="connsiteY0" fmla="*/ 0 h 428878"/>
              <a:gd name="connsiteX1" fmla="*/ 0 w 7161451"/>
              <a:gd name="connsiteY1" fmla="*/ 428878 h 428878"/>
              <a:gd name="connsiteX2" fmla="*/ 7161451 w 7161451"/>
              <a:gd name="connsiteY2" fmla="*/ 428878 h 42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61451" h="428878">
                <a:moveTo>
                  <a:pt x="0" y="0"/>
                </a:moveTo>
                <a:lnTo>
                  <a:pt x="0" y="428878"/>
                </a:lnTo>
                <a:lnTo>
                  <a:pt x="7161451" y="428878"/>
                </a:lnTo>
              </a:path>
            </a:pathLst>
          </a:custGeom>
          <a:noFill/>
          <a:ln w="6350" cap="flat" cmpd="sng" algn="ctr">
            <a:solidFill>
              <a:srgbClr val="A656B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0706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2F532ABA-D426-194F-9838-6C956A0AEB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6466" y="6601300"/>
            <a:ext cx="604831" cy="147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A20056-771D-2042-8569-05C35AE2DDB5}"/>
              </a:ext>
            </a:extLst>
          </p:cNvPr>
          <p:cNvSpPr txBox="1"/>
          <p:nvPr userDrawn="1"/>
        </p:nvSpPr>
        <p:spPr>
          <a:xfrm>
            <a:off x="11353801" y="6606061"/>
            <a:ext cx="381465" cy="16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CC437E41-2C6E-1A42-B1BE-C25975A4A367}" type="slidenum">
              <a:rPr lang="en-IN" sz="600" smtClean="0"/>
              <a:pPr algn="r"/>
              <a:t>‹#›</a:t>
            </a:fld>
            <a:endParaRPr lang="en-IN" sz="6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C8D35F-09F5-4A4C-B59A-FDBCAD90CBCF}"/>
              </a:ext>
            </a:extLst>
          </p:cNvPr>
          <p:cNvCxnSpPr>
            <a:cxnSpLocks/>
          </p:cNvCxnSpPr>
          <p:nvPr userDrawn="1"/>
        </p:nvCxnSpPr>
        <p:spPr>
          <a:xfrm>
            <a:off x="11425731" y="6580716"/>
            <a:ext cx="0" cy="164592"/>
          </a:xfrm>
          <a:prstGeom prst="line">
            <a:avLst/>
          </a:prstGeom>
          <a:ln>
            <a:solidFill>
              <a:schemeClr val="tx2">
                <a:alpha val="2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692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10" userDrawn="1">
          <p15:clr>
            <a:srgbClr val="FBAE40"/>
          </p15:clr>
        </p15:guide>
        <p15:guide id="2" orient="horz" pos="3673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99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33FD-CDDB-CF49-88EA-76C80302F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025" y="537123"/>
            <a:ext cx="11282240" cy="56303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024" y="1357289"/>
            <a:ext cx="1128224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/>
            </a:lvl1pPr>
            <a:lvl2pPr>
              <a:defRPr lang="en-GB" sz="900" dirty="0"/>
            </a:lvl2pPr>
            <a:lvl3pPr>
              <a:defRPr lang="en-GB" sz="825" dirty="0"/>
            </a:lvl3pPr>
            <a:lvl4pPr>
              <a:defRPr lang="en-GB" sz="788" dirty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402DC8-0DB8-0546-AA22-2330E407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026" y="232009"/>
            <a:ext cx="11282239" cy="203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slide title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527C708-53D8-E641-8211-110C10B12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3024" y="6374800"/>
            <a:ext cx="968157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75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56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61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orient="horz" pos="686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107" userDrawn="1">
          <p15:clr>
            <a:srgbClr val="FBAE40"/>
          </p15:clr>
        </p15:guide>
        <p15:guide id="7" orient="horz" pos="3861" userDrawn="1">
          <p15:clr>
            <a:srgbClr val="FBAE40"/>
          </p15:clr>
        </p15:guide>
        <p15:guide id="8" orient="horz" pos="3598" userDrawn="1">
          <p15:clr>
            <a:srgbClr val="FBAE40"/>
          </p15:clr>
        </p15:guide>
        <p15:guide id="9" orient="horz" pos="4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33FD-CDDB-CF49-88EA-76C80302F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025" y="537123"/>
            <a:ext cx="11282240" cy="56303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024" y="1357289"/>
            <a:ext cx="1128224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/>
            </a:lvl1pPr>
            <a:lvl2pPr>
              <a:defRPr lang="en-GB" sz="900" dirty="0"/>
            </a:lvl2pPr>
            <a:lvl3pPr>
              <a:defRPr lang="en-GB" sz="825" dirty="0"/>
            </a:lvl3pPr>
            <a:lvl4pPr>
              <a:defRPr lang="en-GB" sz="788" dirty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402DC8-0DB8-0546-AA22-2330E407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026" y="232009"/>
            <a:ext cx="11282239" cy="203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slide title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0147A2-47CB-084F-848D-1AD8C0A4879A}"/>
              </a:ext>
            </a:extLst>
          </p:cNvPr>
          <p:cNvSpPr/>
          <p:nvPr userDrawn="1"/>
        </p:nvSpPr>
        <p:spPr>
          <a:xfrm>
            <a:off x="1" y="6344655"/>
            <a:ext cx="1732547" cy="5133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073859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" userDrawn="1">
          <p15:clr>
            <a:srgbClr val="FBAE40"/>
          </p15:clr>
        </p15:guide>
        <p15:guide id="2" pos="98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N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33FD-CDDB-CF49-88EA-76C80302F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025" y="537123"/>
            <a:ext cx="11282240" cy="56303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402DC8-0DB8-0546-AA22-2330E407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026" y="232009"/>
            <a:ext cx="11282239" cy="203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slide title</a:t>
            </a: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DBDE00C-38A8-E84E-8B74-3ED5E7F4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3024" y="6374800"/>
            <a:ext cx="965961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75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0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61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orient="horz" pos="686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107" userDrawn="1">
          <p15:clr>
            <a:srgbClr val="FBAE40"/>
          </p15:clr>
        </p15:guide>
        <p15:guide id="7" orient="horz" pos="3861" userDrawn="1">
          <p15:clr>
            <a:srgbClr val="FBAE40"/>
          </p15:clr>
        </p15:guide>
        <p15:guide id="8" orient="horz" pos="3598" userDrawn="1">
          <p15:clr>
            <a:srgbClr val="FBAE40"/>
          </p15:clr>
        </p15:guide>
        <p15:guide id="9" orient="horz" pos="4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YP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4B3D00-A485-0B4C-9E39-31BA795ECF8E}"/>
              </a:ext>
            </a:extLst>
          </p:cNvPr>
          <p:cNvSpPr/>
          <p:nvPr userDrawn="1"/>
        </p:nvSpPr>
        <p:spPr>
          <a:xfrm>
            <a:off x="3288209" y="217116"/>
            <a:ext cx="8700593" cy="30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025" y="1357289"/>
            <a:ext cx="3026345" cy="47645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/>
            </a:lvl1pPr>
            <a:lvl2pPr>
              <a:defRPr lang="en-GB" sz="900" dirty="0"/>
            </a:lvl2pPr>
            <a:lvl3pPr>
              <a:defRPr lang="en-GB" sz="825" dirty="0"/>
            </a:lvl3pPr>
            <a:lvl4pPr>
              <a:defRPr lang="en-GB" sz="788" dirty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7B9D17-DE46-8947-92FD-74EF2620B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026" y="537123"/>
            <a:ext cx="3042447" cy="56303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A5DE2D2-2D7C-4548-BB4A-8E29473B5C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025" y="232009"/>
            <a:ext cx="2413393" cy="203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slide title </a:t>
            </a:r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0F201493-BE50-3F4D-8E55-A53EB94E4B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21114" y="457202"/>
            <a:ext cx="7920037" cy="56646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825"/>
            </a:lvl1pPr>
          </a:lstStyle>
          <a:p>
            <a:r>
              <a:rPr lang="en-US"/>
              <a:t>Visuals can go on right side of slide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AD311A6-08AF-B246-919E-AEDFBFC1E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3024" y="6374800"/>
            <a:ext cx="965961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75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01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61" userDrawn="1">
          <p15:clr>
            <a:srgbClr val="FBAE40"/>
          </p15:clr>
        </p15:guide>
        <p15:guide id="2" orient="horz" pos="288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orient="horz" pos="686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107" userDrawn="1">
          <p15:clr>
            <a:srgbClr val="FBAE40"/>
          </p15:clr>
        </p15:guide>
        <p15:guide id="8" orient="horz" pos="359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33FD-CDDB-CF49-88EA-76C80302F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025" y="537123"/>
            <a:ext cx="11282240" cy="56303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025" y="2372139"/>
            <a:ext cx="5401676" cy="3336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/>
            </a:lvl1pPr>
            <a:lvl2pPr>
              <a:defRPr lang="en-GB" sz="900" dirty="0"/>
            </a:lvl2pPr>
            <a:lvl3pPr>
              <a:defRPr lang="en-GB" sz="825" dirty="0"/>
            </a:lvl3pPr>
            <a:lvl4pPr>
              <a:defRPr lang="en-GB" sz="788" dirty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A8DE14-241B-EC43-A4DA-FA746166130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33587" y="2372139"/>
            <a:ext cx="5401676" cy="3336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/>
            </a:lvl1pPr>
            <a:lvl2pPr>
              <a:defRPr lang="en-GB" sz="900"/>
            </a:lvl2pPr>
            <a:lvl3pPr>
              <a:defRPr lang="en-GB" sz="825"/>
            </a:lvl3pPr>
            <a:lvl4pPr>
              <a:defRPr lang="en-GB" sz="788"/>
            </a:lvl4pPr>
            <a:lvl5pPr>
              <a:defRPr lang="en-US" sz="7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8A0815-A091-FC43-BA48-5F1551C53D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3025" y="1341438"/>
            <a:ext cx="5401675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14526F7-7CE6-5C43-B428-1795E73D0E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588" y="1341438"/>
            <a:ext cx="5401675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text styles 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CEB36A-F927-E04C-8A29-4ED24A63C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026" y="232009"/>
            <a:ext cx="11282239" cy="203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slide title</a:t>
            </a:r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46773C-AC31-A04E-A0D7-847068EE3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3024" y="6374800"/>
            <a:ext cx="965961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75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14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6" userDrawn="1">
          <p15:clr>
            <a:srgbClr val="FBAE40"/>
          </p15:clr>
        </p15:guide>
        <p15:guide id="2" orient="horz" pos="835" userDrawn="1">
          <p15:clr>
            <a:srgbClr val="FBAE40"/>
          </p15:clr>
        </p15:guide>
        <p15:guide id="3" orient="horz" pos="3598" userDrawn="1">
          <p15:clr>
            <a:srgbClr val="FBAE40"/>
          </p15:clr>
        </p15:guide>
        <p15:guide id="4" orient="horz" pos="3861" userDrawn="1">
          <p15:clr>
            <a:srgbClr val="FBAE40"/>
          </p15:clr>
        </p15:guide>
        <p15:guide id="5" orient="horz" pos="4107" userDrawn="1">
          <p15:clr>
            <a:srgbClr val="FBAE40"/>
          </p15:clr>
        </p15:guide>
        <p15:guide id="6" pos="4920" userDrawn="1">
          <p15:clr>
            <a:srgbClr val="FBAE40"/>
          </p15:clr>
        </p15:guide>
        <p15:guide id="7" pos="9861" userDrawn="1">
          <p15:clr>
            <a:srgbClr val="FBAE40"/>
          </p15:clr>
        </p15:guide>
        <p15:guide id="8" pos="5301" userDrawn="1">
          <p15:clr>
            <a:srgbClr val="FBAE40"/>
          </p15:clr>
        </p15:guide>
        <p15:guide id="9" pos="372" userDrawn="1">
          <p15:clr>
            <a:srgbClr val="FBAE40"/>
          </p15:clr>
        </p15:guide>
        <p15:guide id="10" orient="horz" pos="137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33FD-CDDB-CF49-88EA-76C80302F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025" y="537123"/>
            <a:ext cx="11282240" cy="56303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921" y="2372140"/>
            <a:ext cx="3280776" cy="3336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/>
            </a:lvl1pPr>
            <a:lvl2pPr>
              <a:defRPr lang="en-GB" sz="900" dirty="0"/>
            </a:lvl2pPr>
            <a:lvl3pPr>
              <a:defRPr lang="en-GB" sz="825" dirty="0"/>
            </a:lvl3pPr>
            <a:lvl4pPr>
              <a:defRPr lang="en-GB" sz="788" dirty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A8DE14-241B-EC43-A4DA-FA746166130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3756" y="2372140"/>
            <a:ext cx="3280776" cy="3336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/>
            </a:lvl1pPr>
            <a:lvl2pPr>
              <a:defRPr lang="en-GB" sz="900"/>
            </a:lvl2pPr>
            <a:lvl3pPr>
              <a:defRPr lang="en-GB" sz="825"/>
            </a:lvl3pPr>
            <a:lvl4pPr>
              <a:defRPr lang="en-GB" sz="788"/>
            </a:lvl4pPr>
            <a:lvl5pPr>
              <a:defRPr lang="en-US" sz="7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A22D55-66F4-224B-A7F4-A893EBEB282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54489" y="2372140"/>
            <a:ext cx="3280776" cy="3336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/>
            </a:lvl1pPr>
            <a:lvl2pPr>
              <a:defRPr lang="en-GB" sz="900"/>
            </a:lvl2pPr>
            <a:lvl3pPr>
              <a:defRPr lang="en-GB" sz="825"/>
            </a:lvl3pPr>
            <a:lvl4pPr>
              <a:defRPr lang="en-GB" sz="788"/>
            </a:lvl4pPr>
            <a:lvl5pPr>
              <a:defRPr lang="en-US" sz="7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ECF6611-CCEF-D647-B797-3F52351F8F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027" y="1341438"/>
            <a:ext cx="3280776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text styles 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34878D13-9879-424E-BD83-E7A501155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53756" y="1341438"/>
            <a:ext cx="3280776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text styles 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06AD6C7-932B-394E-BFA1-D516789EF8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4489" y="1341438"/>
            <a:ext cx="3280776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text styles </a:t>
            </a:r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02DB0CF-B065-A74E-A737-88A02CE2A1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026" y="232009"/>
            <a:ext cx="11282239" cy="203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slide title</a:t>
            </a:r>
            <a:endParaRPr lang="en-US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31A2B86-7F9A-524C-B347-97F000EE8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3024" y="6374800"/>
            <a:ext cx="965961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75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9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35" userDrawn="1">
          <p15:clr>
            <a:srgbClr val="FBAE40"/>
          </p15:clr>
        </p15:guide>
        <p15:guide id="2" pos="313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3729" userDrawn="1">
          <p15:clr>
            <a:srgbClr val="FBAE40"/>
          </p15:clr>
        </p15:guide>
        <p15:guide id="5" pos="6500" userDrawn="1">
          <p15:clr>
            <a:srgbClr val="FBAE40"/>
          </p15:clr>
        </p15:guide>
        <p15:guide id="6" pos="7079" userDrawn="1">
          <p15:clr>
            <a:srgbClr val="FBAE40"/>
          </p15:clr>
        </p15:guide>
        <p15:guide id="7" pos="9861" userDrawn="1">
          <p15:clr>
            <a:srgbClr val="FBAE40"/>
          </p15:clr>
        </p15:guide>
        <p15:guide id="8" orient="horz" pos="1377" userDrawn="1">
          <p15:clr>
            <a:srgbClr val="FBAE40"/>
          </p15:clr>
        </p15:guide>
        <p15:guide id="9" orient="horz" pos="1486" userDrawn="1">
          <p15:clr>
            <a:srgbClr val="FBAE40"/>
          </p15:clr>
        </p15:guide>
        <p15:guide id="10" orient="horz" pos="3598" userDrawn="1">
          <p15:clr>
            <a:srgbClr val="FBAE40"/>
          </p15:clr>
        </p15:guide>
        <p15:guide id="11" orient="horz" pos="3861" userDrawn="1">
          <p15:clr>
            <a:srgbClr val="FBAE40"/>
          </p15:clr>
        </p15:guide>
        <p15:guide id="12" orient="horz" pos="411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33FD-CDDB-CF49-88EA-76C80302F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025" y="537123"/>
            <a:ext cx="11282240" cy="56303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027" y="2372139"/>
            <a:ext cx="2581811" cy="33364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/>
            </a:lvl1pPr>
            <a:lvl2pPr>
              <a:defRPr lang="en-GB" sz="900" dirty="0"/>
            </a:lvl2pPr>
            <a:lvl3pPr>
              <a:defRPr lang="en-GB" sz="825" dirty="0"/>
            </a:lvl3pPr>
            <a:lvl4pPr>
              <a:defRPr lang="en-GB" sz="788" dirty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A8DE14-241B-EC43-A4DA-FA746166130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353168" y="2372137"/>
            <a:ext cx="2581811" cy="3336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 smtClean="0"/>
            </a:lvl1pPr>
            <a:lvl2pPr>
              <a:defRPr lang="en-GB" sz="900" dirty="0" smtClean="0"/>
            </a:lvl2pPr>
            <a:lvl3pPr>
              <a:defRPr lang="en-GB" sz="825" dirty="0" smtClean="0"/>
            </a:lvl3pPr>
            <a:lvl4pPr>
              <a:defRPr lang="en-GB" sz="788" dirty="0" smtClean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A22D55-66F4-224B-A7F4-A893EBEB282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53311" y="2372137"/>
            <a:ext cx="2581811" cy="3336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 dirty="0" smtClean="0"/>
            </a:lvl1pPr>
            <a:lvl2pPr>
              <a:defRPr lang="en-GB" sz="900" dirty="0" smtClean="0"/>
            </a:lvl2pPr>
            <a:lvl3pPr>
              <a:defRPr lang="en-GB" sz="825" dirty="0" smtClean="0"/>
            </a:lvl3pPr>
            <a:lvl4pPr>
              <a:defRPr lang="en-GB" sz="788" dirty="0" smtClean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0334F7-4FA8-AC4C-8533-DA4E55F77BA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3455" y="2372137"/>
            <a:ext cx="2581811" cy="3336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GB" sz="1050"/>
            </a:lvl1pPr>
            <a:lvl2pPr>
              <a:defRPr lang="en-GB" sz="900" dirty="0"/>
            </a:lvl2pPr>
            <a:lvl3pPr>
              <a:defRPr lang="en-GB" sz="825" dirty="0"/>
            </a:lvl3pPr>
            <a:lvl4pPr>
              <a:defRPr lang="en-GB" sz="788" dirty="0"/>
            </a:lvl4pPr>
            <a:lvl5pPr>
              <a:defRPr lang="en-US" sz="7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4C277A6-4AD1-CA4A-ABEF-E46EF03AA6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3026" y="1341438"/>
            <a:ext cx="2594975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233F844-B80B-7544-896A-8E19A0B09B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53167" y="1341438"/>
            <a:ext cx="2594975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C983E58-A86B-534C-8328-464D22396E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53454" y="1341438"/>
            <a:ext cx="2594975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84C8586-D413-1E48-8D25-A00D436E70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310" y="1341438"/>
            <a:ext cx="2594975" cy="8451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64FB401-09DE-8843-A154-3CCE52492A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026" y="232009"/>
            <a:ext cx="11282239" cy="203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slide title</a:t>
            </a:r>
            <a:endParaRPr lang="en-US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4E13FF7-7758-4C4E-B83C-0C883C9B7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3024" y="6374800"/>
            <a:ext cx="965961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75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09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61" userDrawn="1">
          <p15:clr>
            <a:srgbClr val="FBAE40"/>
          </p15:clr>
        </p15:guide>
        <p15:guide id="2" orient="horz" pos="685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2560" userDrawn="1">
          <p15:clr>
            <a:srgbClr val="FBAE40"/>
          </p15:clr>
        </p15:guide>
        <p15:guide id="5" pos="4987" userDrawn="1">
          <p15:clr>
            <a:srgbClr val="FBAE40"/>
          </p15:clr>
        </p15:guide>
        <p15:guide id="6" pos="7419" userDrawn="1">
          <p15:clr>
            <a:srgbClr val="FBAE40"/>
          </p15:clr>
        </p15:guide>
        <p15:guide id="7" pos="7669" userDrawn="1">
          <p15:clr>
            <a:srgbClr val="FBAE40"/>
          </p15:clr>
        </p15:guide>
        <p15:guide id="8" pos="5231" userDrawn="1">
          <p15:clr>
            <a:srgbClr val="FBAE40"/>
          </p15:clr>
        </p15:guide>
        <p15:guide id="9" pos="2805" userDrawn="1">
          <p15:clr>
            <a:srgbClr val="FBAE40"/>
          </p15:clr>
        </p15:guide>
        <p15:guide id="10" orient="horz" pos="845" userDrawn="1">
          <p15:clr>
            <a:srgbClr val="FBAE40"/>
          </p15:clr>
        </p15:guide>
        <p15:guide id="11" orient="horz" pos="3598" userDrawn="1">
          <p15:clr>
            <a:srgbClr val="FBAE40"/>
          </p15:clr>
        </p15:guide>
        <p15:guide id="12" orient="horz" pos="3861" userDrawn="1">
          <p15:clr>
            <a:srgbClr val="FBAE40"/>
          </p15:clr>
        </p15:guide>
        <p15:guide id="13" orient="horz" pos="411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BADCB42C-785E-9B49-AAA4-7DC38924BEE4}"/>
              </a:ext>
            </a:extLst>
          </p:cNvPr>
          <p:cNvSpPr/>
          <p:nvPr userDrawn="1"/>
        </p:nvSpPr>
        <p:spPr>
          <a:xfrm flipH="1">
            <a:off x="2" y="784812"/>
            <a:ext cx="2093495" cy="256032"/>
          </a:xfrm>
          <a:custGeom>
            <a:avLst/>
            <a:gdLst>
              <a:gd name="connsiteX0" fmla="*/ 0 w 7161451"/>
              <a:gd name="connsiteY0" fmla="*/ 0 h 428878"/>
              <a:gd name="connsiteX1" fmla="*/ 0 w 7161451"/>
              <a:gd name="connsiteY1" fmla="*/ 428878 h 428878"/>
              <a:gd name="connsiteX2" fmla="*/ 7161451 w 7161451"/>
              <a:gd name="connsiteY2" fmla="*/ 428878 h 42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61451" h="428878">
                <a:moveTo>
                  <a:pt x="0" y="0"/>
                </a:moveTo>
                <a:lnTo>
                  <a:pt x="0" y="428878"/>
                </a:lnTo>
                <a:lnTo>
                  <a:pt x="7161451" y="428878"/>
                </a:lnTo>
              </a:path>
            </a:pathLst>
          </a:custGeom>
          <a:noFill/>
          <a:ln w="6350" cap="flat" cmpd="sng" algn="ctr">
            <a:solidFill>
              <a:srgbClr val="A656B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0706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6E23-1223-EE4D-8675-E6F9B9B273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05802" y="1618548"/>
            <a:ext cx="4890199" cy="42222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marR="0" indent="-17145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Pct val="110000"/>
              <a:buFont typeface="Wingdings" pitchFamily="2" charset="2"/>
              <a:buChar char="§"/>
              <a:tabLst/>
              <a:defRPr lang="en-GB" sz="1050"/>
            </a:lvl1pPr>
            <a:lvl2pPr marL="345281" marR="0" indent="-172641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GB" sz="900"/>
            </a:lvl2pPr>
            <a:lvl3pPr marL="519113" marR="0" indent="-173831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GB" sz="825"/>
            </a:lvl3pPr>
            <a:lvl4pPr marL="685800" marR="0" indent="-154781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GB" sz="788"/>
            </a:lvl4pPr>
            <a:lvl5pPr marL="859631" marR="0" indent="-173831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A3441">
                  <a:lumMod val="40000"/>
                  <a:lumOff val="60000"/>
                </a:srgbClr>
              </a:buClr>
              <a:buSzTx/>
              <a:buFont typeface="Wingdings" pitchFamily="2" charset="2"/>
              <a:buChar char="§"/>
              <a:tabLst/>
              <a:defRPr lang="en-US" sz="7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402DC8-0DB8-0546-AA22-2330E407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560" y="812732"/>
            <a:ext cx="1911713" cy="2032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75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NEXT STEPs</a:t>
            </a:r>
            <a:endParaRPr lang="en-US"/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2597A1AE-5BD0-C742-9DB0-DF015212A7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6466" y="6601300"/>
            <a:ext cx="604831" cy="1475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050463-66C8-D646-8F35-15672C18C7C3}"/>
              </a:ext>
            </a:extLst>
          </p:cNvPr>
          <p:cNvSpPr txBox="1"/>
          <p:nvPr userDrawn="1"/>
        </p:nvSpPr>
        <p:spPr>
          <a:xfrm>
            <a:off x="11353801" y="6606061"/>
            <a:ext cx="381465" cy="16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CC437E41-2C6E-1A42-B1BE-C25975A4A367}" type="slidenum">
              <a:rPr lang="en-IN" sz="600" smtClean="0"/>
              <a:pPr algn="r"/>
              <a:t>‹#›</a:t>
            </a:fld>
            <a:endParaRPr lang="en-IN" sz="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CB15D4-F990-3D4E-9313-28EDFF3511AC}"/>
              </a:ext>
            </a:extLst>
          </p:cNvPr>
          <p:cNvCxnSpPr>
            <a:cxnSpLocks/>
          </p:cNvCxnSpPr>
          <p:nvPr userDrawn="1"/>
        </p:nvCxnSpPr>
        <p:spPr>
          <a:xfrm>
            <a:off x="11425731" y="6580716"/>
            <a:ext cx="0" cy="164592"/>
          </a:xfrm>
          <a:prstGeom prst="line">
            <a:avLst/>
          </a:prstGeom>
          <a:ln>
            <a:solidFill>
              <a:schemeClr val="tx2">
                <a:alpha val="2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32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20" userDrawn="1">
          <p15:clr>
            <a:srgbClr val="FBAE40"/>
          </p15:clr>
        </p15:guide>
        <p15:guide id="2" orient="horz" pos="1010" userDrawn="1">
          <p15:clr>
            <a:srgbClr val="FBAE40"/>
          </p15:clr>
        </p15:guide>
        <p15:guide id="3" orient="horz" pos="3680" userDrawn="1">
          <p15:clr>
            <a:srgbClr val="FBAE40"/>
          </p15:clr>
        </p15:guide>
        <p15:guide id="4" pos="99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4716762-4A1B-AF4B-AA59-B57E7ECCBE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352ACD2-ADBA-D54B-A72B-BF6155CAA7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424"/>
          <a:stretch/>
        </p:blipFill>
        <p:spPr>
          <a:xfrm>
            <a:off x="4967826" y="3147333"/>
            <a:ext cx="2208645" cy="82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68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307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634976"/>
            <a:ext cx="3657600" cy="228600"/>
          </a:xfrm>
          <a:prstGeom prst="rect">
            <a:avLst/>
          </a:prstGeom>
          <a:solidFill>
            <a:srgbClr val="FCE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Qral Group</a:t>
            </a:r>
            <a:endParaRPr lang="en-US" sz="90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3657600" y="6634976"/>
            <a:ext cx="8534400" cy="228600"/>
          </a:xfrm>
          <a:prstGeom prst="rect">
            <a:avLst/>
          </a:prstGeom>
          <a:solidFill>
            <a:srgbClr val="F45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6530931"/>
            <a:ext cx="12192000" cy="118872"/>
          </a:xfrm>
          <a:prstGeom prst="rect">
            <a:avLst/>
          </a:prstGeom>
          <a:solidFill>
            <a:srgbClr val="361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336" y="1843126"/>
            <a:ext cx="10728960" cy="2387600"/>
          </a:xfrm>
        </p:spPr>
        <p:txBody>
          <a:bodyPr anchor="b">
            <a:normAutofit/>
          </a:bodyPr>
          <a:lstStyle>
            <a:lvl1pPr algn="l">
              <a:defRPr sz="4000" i="0" cap="all" spc="100" baseline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[Title]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0336" y="4812787"/>
            <a:ext cx="10728960" cy="106551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[Date]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01" y="64698"/>
            <a:ext cx="2113065" cy="48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737209" y="6627168"/>
            <a:ext cx="3454792" cy="230832"/>
          </a:xfrm>
          <a:prstGeom prst="rect">
            <a:avLst/>
          </a:prstGeom>
          <a:noFill/>
        </p:spPr>
        <p:txBody>
          <a:bodyPr wrap="none" rIns="91440" bIns="45720" rtlCol="0" anchor="b" anchorCtr="0">
            <a:spAutoFit/>
          </a:bodyPr>
          <a:lstStyle/>
          <a:p>
            <a:pPr marL="0" algn="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chemeClr val="tx1"/>
                </a:solidFill>
                <a:effectLst/>
              </a:rPr>
              <a:t>qralgroup.com</a:t>
            </a:r>
            <a:r>
              <a:rPr lang="en-US" sz="900" baseline="0">
                <a:solidFill>
                  <a:schemeClr val="tx1"/>
                </a:solidFill>
                <a:effectLst/>
              </a:rPr>
              <a:t>    </a:t>
            </a:r>
            <a:r>
              <a:rPr lang="en-US" sz="900">
                <a:solidFill>
                  <a:schemeClr val="tx1"/>
                </a:solidFill>
                <a:effectLst/>
              </a:rPr>
              <a:t>New</a:t>
            </a:r>
            <a:r>
              <a:rPr lang="en-US" sz="900" baseline="0">
                <a:solidFill>
                  <a:schemeClr val="tx1"/>
                </a:solidFill>
                <a:effectLst/>
              </a:rPr>
              <a:t> York    Boston    Chicago    San Francisco</a:t>
            </a:r>
            <a:endParaRPr lang="en-US" sz="90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4001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675120"/>
            <a:ext cx="3657600" cy="182880"/>
          </a:xfrm>
          <a:prstGeom prst="rect">
            <a:avLst/>
          </a:prstGeom>
          <a:solidFill>
            <a:srgbClr val="954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© Qral Group</a:t>
            </a:r>
            <a:endParaRPr lang="en-US" sz="900">
              <a:solidFill>
                <a:schemeClr val="bg1">
                  <a:lumMod val="85000"/>
                </a:schemeClr>
              </a:solidFill>
              <a:effectLst/>
              <a:latin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3657600" y="6675120"/>
            <a:ext cx="8534400" cy="182880"/>
          </a:xfrm>
          <a:prstGeom prst="rect">
            <a:avLst/>
          </a:prstGeom>
          <a:solidFill>
            <a:srgbClr val="954F7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1BAE3585-076A-433D-B2FD-A111DD14418E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 flipH="1">
            <a:off x="457201" y="152295"/>
            <a:ext cx="3475310" cy="281103"/>
          </a:xfrm>
        </p:spPr>
        <p:txBody>
          <a:bodyPr wrap="none">
            <a:spAutoFit/>
          </a:bodyPr>
          <a:lstStyle>
            <a:lvl1pPr marL="0" indent="0">
              <a:buNone/>
              <a:defRPr sz="1800" b="1" cap="all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6550224"/>
            <a:ext cx="11277600" cy="307777"/>
          </a:xfrm>
        </p:spPr>
        <p:txBody>
          <a:bodyPr bIns="18288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3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323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675120"/>
            <a:ext cx="3657600" cy="182880"/>
          </a:xfrm>
          <a:prstGeom prst="rect">
            <a:avLst/>
          </a:prstGeom>
          <a:solidFill>
            <a:srgbClr val="954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© Qral Group</a:t>
            </a:r>
            <a:endParaRPr lang="en-US" sz="900">
              <a:solidFill>
                <a:schemeClr val="bg1">
                  <a:lumMod val="85000"/>
                </a:schemeClr>
              </a:solidFill>
              <a:effectLst/>
              <a:latin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657600" y="6675120"/>
            <a:ext cx="8534400" cy="182880"/>
          </a:xfrm>
          <a:prstGeom prst="rect">
            <a:avLst/>
          </a:prstGeom>
          <a:solidFill>
            <a:srgbClr val="954F7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1BAE3585-076A-433D-B2FD-A111DD14418E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25880"/>
            <a:ext cx="5486400" cy="48463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325880"/>
            <a:ext cx="5486400" cy="48463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152295"/>
            <a:ext cx="11277600" cy="91440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/>
          </p:nvPr>
        </p:nvSpPr>
        <p:spPr>
          <a:xfrm flipH="1">
            <a:off x="457201" y="152295"/>
            <a:ext cx="3475310" cy="281103"/>
          </a:xfrm>
        </p:spPr>
        <p:txBody>
          <a:bodyPr wrap="none">
            <a:spAutoFit/>
          </a:bodyPr>
          <a:lstStyle>
            <a:lvl1pPr marL="0" indent="0">
              <a:buNone/>
              <a:defRPr sz="1800" b="1" cap="all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6550224"/>
            <a:ext cx="11277600" cy="307777"/>
          </a:xfrm>
        </p:spPr>
        <p:txBody>
          <a:bodyPr bIns="18288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3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265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675120"/>
            <a:ext cx="3657600" cy="182880"/>
          </a:xfrm>
          <a:prstGeom prst="rect">
            <a:avLst/>
          </a:prstGeom>
          <a:solidFill>
            <a:srgbClr val="954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© Qral Group</a:t>
            </a:r>
            <a:endParaRPr lang="en-US" sz="900">
              <a:solidFill>
                <a:schemeClr val="bg1">
                  <a:lumMod val="85000"/>
                </a:schemeClr>
              </a:solidFill>
              <a:effectLst/>
              <a:latin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3657600" y="6675120"/>
            <a:ext cx="8534400" cy="182880"/>
          </a:xfrm>
          <a:prstGeom prst="rect">
            <a:avLst/>
          </a:prstGeom>
          <a:solidFill>
            <a:srgbClr val="954F7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1BAE3585-076A-433D-B2FD-A111DD14418E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 flipH="1">
            <a:off x="457201" y="152295"/>
            <a:ext cx="3475310" cy="281103"/>
          </a:xfrm>
        </p:spPr>
        <p:txBody>
          <a:bodyPr wrap="none">
            <a:spAutoFit/>
          </a:bodyPr>
          <a:lstStyle>
            <a:lvl1pPr marL="0" indent="0">
              <a:buNone/>
              <a:defRPr sz="1800" b="1" cap="all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6550224"/>
            <a:ext cx="11277600" cy="307777"/>
          </a:xfrm>
        </p:spPr>
        <p:txBody>
          <a:bodyPr bIns="18288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3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306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7377D-0267-7048-BDED-420139F0F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3024" y="6374800"/>
            <a:ext cx="965961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75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5E675-9A9F-C44A-9393-400F5490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25" y="535019"/>
            <a:ext cx="11282240" cy="5630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running header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E5B75-1999-134B-B5AB-A9402C290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024" y="1357289"/>
            <a:ext cx="1128224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5A4B7F1-CF81-7B45-80F2-3E4606BFACAD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6466" y="6601300"/>
            <a:ext cx="604831" cy="147591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0F7812E9-24E1-4543-9F6B-5D081FA4EC8E}"/>
              </a:ext>
            </a:extLst>
          </p:cNvPr>
          <p:cNvSpPr/>
          <p:nvPr userDrawn="1"/>
        </p:nvSpPr>
        <p:spPr>
          <a:xfrm>
            <a:off x="385176" y="208586"/>
            <a:ext cx="11421648" cy="256032"/>
          </a:xfrm>
          <a:custGeom>
            <a:avLst/>
            <a:gdLst>
              <a:gd name="connsiteX0" fmla="*/ 0 w 7161451"/>
              <a:gd name="connsiteY0" fmla="*/ 0 h 428878"/>
              <a:gd name="connsiteX1" fmla="*/ 0 w 7161451"/>
              <a:gd name="connsiteY1" fmla="*/ 428878 h 428878"/>
              <a:gd name="connsiteX2" fmla="*/ 7161451 w 7161451"/>
              <a:gd name="connsiteY2" fmla="*/ 428878 h 42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61451" h="428878">
                <a:moveTo>
                  <a:pt x="0" y="0"/>
                </a:moveTo>
                <a:lnTo>
                  <a:pt x="0" y="428878"/>
                </a:lnTo>
                <a:lnTo>
                  <a:pt x="7161451" y="428878"/>
                </a:lnTo>
              </a:path>
            </a:pathLst>
          </a:custGeom>
          <a:noFill/>
          <a:ln w="6350" cap="flat" cmpd="sng" algn="ctr">
            <a:solidFill>
              <a:srgbClr val="A656B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0706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4D070-F94D-BB47-87B2-D538A43EB84C}"/>
              </a:ext>
            </a:extLst>
          </p:cNvPr>
          <p:cNvSpPr txBox="1"/>
          <p:nvPr userDrawn="1"/>
        </p:nvSpPr>
        <p:spPr>
          <a:xfrm>
            <a:off x="11353801" y="6606061"/>
            <a:ext cx="381465" cy="16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CC437E41-2C6E-1A42-B1BE-C25975A4A367}" type="slidenum">
              <a:rPr lang="en-IN" sz="600" smtClean="0"/>
              <a:pPr algn="r"/>
              <a:t>‹#›</a:t>
            </a:fld>
            <a:endParaRPr lang="en-IN" sz="6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26154D-C7A8-C245-A16F-84DEDC9F4217}"/>
              </a:ext>
            </a:extLst>
          </p:cNvPr>
          <p:cNvCxnSpPr>
            <a:cxnSpLocks/>
          </p:cNvCxnSpPr>
          <p:nvPr userDrawn="1"/>
        </p:nvCxnSpPr>
        <p:spPr>
          <a:xfrm>
            <a:off x="11425731" y="6580716"/>
            <a:ext cx="0" cy="164592"/>
          </a:xfrm>
          <a:prstGeom prst="line">
            <a:avLst/>
          </a:prstGeom>
          <a:ln>
            <a:solidFill>
              <a:schemeClr val="tx2">
                <a:alpha val="2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00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76" r:id="rId17"/>
    <p:sldLayoutId id="2147483678" r:id="rId18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1">
            <a:lumMod val="40000"/>
            <a:lumOff val="60000"/>
          </a:schemeClr>
        </a:buClr>
        <a:buSzPct val="110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5281" indent="-172641" algn="l" defTabSz="685800" rtl="0" eaLnBrk="1" latinLnBrk="0" hangingPunct="1">
        <a:lnSpc>
          <a:spcPct val="100000"/>
        </a:lnSpc>
        <a:spcBef>
          <a:spcPts val="525"/>
        </a:spcBef>
        <a:buClr>
          <a:schemeClr val="tx1">
            <a:lumMod val="40000"/>
            <a:lumOff val="60000"/>
          </a:schemeClr>
        </a:buClr>
        <a:buFont typeface="Wingdings" pitchFamily="2" charset="2"/>
        <a:buChar char="§"/>
        <a:tabLst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9113" indent="-173831" algn="l" defTabSz="685800" rtl="0" eaLnBrk="1" latinLnBrk="0" hangingPunct="1">
        <a:lnSpc>
          <a:spcPct val="100000"/>
        </a:lnSpc>
        <a:spcBef>
          <a:spcPts val="525"/>
        </a:spcBef>
        <a:buClr>
          <a:schemeClr val="tx1">
            <a:lumMod val="40000"/>
            <a:lumOff val="60000"/>
          </a:schemeClr>
        </a:buClr>
        <a:buFont typeface="Wingdings" pitchFamily="2" charset="2"/>
        <a:buChar char="§"/>
        <a:tabLst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54781" algn="l" defTabSz="685800" rtl="0" eaLnBrk="1" latinLnBrk="0" hangingPunct="1">
        <a:lnSpc>
          <a:spcPct val="100000"/>
        </a:lnSpc>
        <a:spcBef>
          <a:spcPts val="525"/>
        </a:spcBef>
        <a:buClr>
          <a:schemeClr val="tx1">
            <a:lumMod val="40000"/>
            <a:lumOff val="60000"/>
          </a:schemeClr>
        </a:buClr>
        <a:buFont typeface="Wingdings" pitchFamily="2" charset="2"/>
        <a:buChar char="§"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4pPr>
      <a:lvl5pPr marL="859631" indent="-173831" algn="l" defTabSz="685800" rtl="0" eaLnBrk="1" latinLnBrk="0" hangingPunct="1">
        <a:lnSpc>
          <a:spcPct val="100000"/>
        </a:lnSpc>
        <a:spcBef>
          <a:spcPts val="525"/>
        </a:spcBef>
        <a:buClr>
          <a:schemeClr val="tx1">
            <a:lumMod val="40000"/>
            <a:lumOff val="60000"/>
          </a:schemeClr>
        </a:buClr>
        <a:buFont typeface="Wingdings" pitchFamily="2" charset="2"/>
        <a:buChar char="§"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120" userDrawn="1">
          <p15:clr>
            <a:srgbClr val="F26B43"/>
          </p15:clr>
        </p15:guide>
        <p15:guide id="3" orient="horz" pos="480" userDrawn="1">
          <p15:clr>
            <a:srgbClr val="F26B43"/>
          </p15:clr>
        </p15:guide>
        <p15:guide id="4" orient="horz" pos="4224" userDrawn="1">
          <p15:clr>
            <a:srgbClr val="F26B43"/>
          </p15:clr>
        </p15:guide>
        <p15:guide id="6" pos="384" userDrawn="1">
          <p15:clr>
            <a:srgbClr val="F26B43"/>
          </p15:clr>
        </p15:guide>
        <p15:guide id="7" pos="9856" userDrawn="1">
          <p15:clr>
            <a:srgbClr val="F26B43"/>
          </p15:clr>
        </p15:guide>
        <p15:guide id="8" orient="horz" pos="3984" userDrawn="1">
          <p15:clr>
            <a:srgbClr val="F26B43"/>
          </p15:clr>
        </p15:guide>
        <p15:guide id="9" pos="85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Analytical Case:</a:t>
            </a:r>
            <a:br>
              <a:rPr lang="en-US"/>
            </a:br>
            <a:r>
              <a:rPr lang="en-US"/>
              <a:t>PINETHASE Sales launch strategy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2025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69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F152-35E6-C61D-6F62-22BFAD64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976E9-69F7-9089-0EA0-7A3221870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Welcome to the Round 2 case! 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/>
              <a:t>At </a:t>
            </a:r>
            <a:r>
              <a:rPr lang="en-US" sz="1200" dirty="0" err="1"/>
              <a:t>Qral</a:t>
            </a:r>
            <a:r>
              <a:rPr lang="en-US" sz="1200" dirty="0"/>
              <a:t> Group we pride ourselves on the following key skills:</a:t>
            </a:r>
          </a:p>
          <a:p>
            <a:pPr marL="290195" indent="-290195">
              <a:buFont typeface="Wingdings" panose="05000000000000000000" pitchFamily="2" charset="2"/>
              <a:buChar char="Ø"/>
            </a:pPr>
            <a:r>
              <a:rPr lang="en-US" sz="1200" u="sng" dirty="0">
                <a:solidFill>
                  <a:schemeClr val="accent1"/>
                </a:solidFill>
              </a:rPr>
              <a:t>Communication Skills</a:t>
            </a:r>
            <a:endParaRPr lang="en-US" sz="1200" u="sng" dirty="0">
              <a:solidFill>
                <a:schemeClr val="accent1"/>
              </a:solidFill>
              <a:cs typeface="Arial" panose="020B0604020202020204"/>
            </a:endParaRPr>
          </a:p>
          <a:p>
            <a:pPr marL="290195" indent="0">
              <a:buNone/>
            </a:pPr>
            <a:r>
              <a:rPr lang="en-US" sz="1200" dirty="0"/>
              <a:t>All our consultants work with clients immediately upon joining and must be able to convey complex information in an engaging, professional manner.</a:t>
            </a:r>
            <a:endParaRPr lang="en-US" sz="1200" dirty="0">
              <a:cs typeface="Arial" panose="020B0604020202020204"/>
            </a:endParaRPr>
          </a:p>
          <a:p>
            <a:pPr marL="290195" indent="-290195">
              <a:buFont typeface="Wingdings" panose="05000000000000000000" pitchFamily="2" charset="2"/>
              <a:buChar char="Ø"/>
            </a:pPr>
            <a:r>
              <a:rPr lang="en-US" sz="1200" u="sng" dirty="0">
                <a:solidFill>
                  <a:schemeClr val="accent1"/>
                </a:solidFill>
              </a:rPr>
              <a:t>Analytical Capabilities</a:t>
            </a:r>
            <a:endParaRPr lang="en-US" sz="1200" u="sng" dirty="0">
              <a:solidFill>
                <a:schemeClr val="accent1"/>
              </a:solidFill>
              <a:cs typeface="Arial" panose="020B0604020202020204"/>
            </a:endParaRPr>
          </a:p>
          <a:p>
            <a:pPr marL="290195" indent="0">
              <a:buNone/>
            </a:pPr>
            <a:r>
              <a:rPr lang="en-US" sz="1200" dirty="0"/>
              <a:t>We often work with large data sets and need to deal with ambiguity. This type of work may be new to you, but we value effort at problem-solving and critical thinking.</a:t>
            </a:r>
            <a:endParaRPr lang="en-US" sz="1200" dirty="0">
              <a:cs typeface="Arial" panose="020B0604020202020204"/>
            </a:endParaRPr>
          </a:p>
          <a:p>
            <a:pPr marL="290195" indent="-290195">
              <a:buFont typeface="Wingdings" panose="05000000000000000000" pitchFamily="2" charset="2"/>
              <a:buChar char="Ø"/>
            </a:pPr>
            <a:r>
              <a:rPr lang="en-US" sz="1200" u="sng" dirty="0">
                <a:solidFill>
                  <a:schemeClr val="accent1"/>
                </a:solidFill>
              </a:rPr>
              <a:t>Resourcefulness</a:t>
            </a:r>
            <a:endParaRPr lang="en-US" sz="1200" u="sng" dirty="0">
              <a:solidFill>
                <a:schemeClr val="accent1"/>
              </a:solidFill>
              <a:cs typeface="Arial" panose="020B0604020202020204"/>
            </a:endParaRPr>
          </a:p>
          <a:p>
            <a:pPr marL="290195" indent="0">
              <a:buNone/>
            </a:pPr>
            <a:r>
              <a:rPr lang="en-US" sz="1200" dirty="0"/>
              <a:t>We spend time doing desk research, asking professional questions, and trying to find answers in unique ways.</a:t>
            </a:r>
            <a:endParaRPr lang="en-US" sz="1200" dirty="0">
              <a:cs typeface="Arial" panose="020B0604020202020204"/>
            </a:endParaRPr>
          </a:p>
          <a:p>
            <a:pPr marL="0" indent="0">
              <a:buNone/>
            </a:pPr>
            <a:endParaRPr lang="en-US" sz="120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200" dirty="0"/>
              <a:t>We expect this case will take you 4-5 hours. We will invite 2-3 team members to listen to your final presentation of ~20 minutes and review the case results. Please feel free to reach out to us with any questions before your final presentation.</a:t>
            </a:r>
            <a:endParaRPr lang="en-US" sz="1200" dirty="0">
              <a:cs typeface="Arial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F149C-8979-98AE-FC2B-79D81896E7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800" b="1" cap="all" dirty="0">
                <a:solidFill>
                  <a:schemeClr val="accent1"/>
                </a:solidFill>
              </a:rPr>
              <a:t>Congratulations on advancing to Round 2!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FF86-3FB8-BF70-EFA0-237FDBCD4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53458-CC73-AA7E-4620-DCA0DF1BE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800" b="1" cap="all" dirty="0">
                <a:solidFill>
                  <a:schemeClr val="accent1"/>
                </a:solidFill>
              </a:rPr>
              <a:t>Agenda for Round 2 case presentation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200D1D-7C8F-00E9-4E86-519937B5E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EBC0382-03B8-12BF-51BA-FCA6CB7E6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779640"/>
              </p:ext>
            </p:extLst>
          </p:nvPr>
        </p:nvGraphicFramePr>
        <p:xfrm>
          <a:off x="2631459" y="1960728"/>
          <a:ext cx="6929083" cy="245042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69391">
                  <a:extLst>
                    <a:ext uri="{9D8B030D-6E8A-4147-A177-3AD203B41FA5}">
                      <a16:colId xmlns:a16="http://schemas.microsoft.com/office/drawing/2014/main" val="4052139129"/>
                    </a:ext>
                  </a:extLst>
                </a:gridCol>
                <a:gridCol w="4959692">
                  <a:extLst>
                    <a:ext uri="{9D8B030D-6E8A-4147-A177-3AD203B41FA5}">
                      <a16:colId xmlns:a16="http://schemas.microsoft.com/office/drawing/2014/main" val="2839091711"/>
                    </a:ext>
                  </a:extLst>
                </a:gridCol>
              </a:tblGrid>
              <a:tr h="467826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717658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5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Introduction (candidate &amp; </a:t>
                      </a:r>
                      <a:r>
                        <a:rPr lang="en-US" sz="1600" dirty="0" err="1"/>
                        <a:t>Qral</a:t>
                      </a:r>
                      <a:r>
                        <a:rPr lang="en-US" sz="1600" dirty="0"/>
                        <a:t> team members)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823633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40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Candidate presentation and Q&amp;A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016452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15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Get to know you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60735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TOTAL SCHEDULED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60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460085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73B5136-7189-2CC2-9A51-89EC723F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313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E2DE-E419-B507-AF64-90758257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client is launching a new product in the US, </a:t>
            </a:r>
            <a:r>
              <a:rPr lang="en-US" dirty="0" err="1"/>
              <a:t>Pinethase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81CA7-5DD6-DDE4-FDB3-F6A7500E5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Situation</a:t>
            </a:r>
          </a:p>
          <a:p>
            <a:r>
              <a:rPr lang="en-US" sz="1200" dirty="0"/>
              <a:t>Our client is a mid-sized biotechnology company currently operating in the Oncology therapeutic area, launching a new molecule called </a:t>
            </a:r>
            <a:r>
              <a:rPr lang="en-US" sz="1200" dirty="0" err="1"/>
              <a:t>Pinethase</a:t>
            </a:r>
            <a:r>
              <a:rPr lang="en-US" sz="1200" dirty="0"/>
              <a:t>. </a:t>
            </a:r>
            <a:r>
              <a:rPr lang="en-US" sz="1200" dirty="0" err="1"/>
              <a:t>Pinethase</a:t>
            </a:r>
            <a:r>
              <a:rPr lang="en-US" sz="1200" dirty="0"/>
              <a:t> will be indicated for locally advanced or metastatic pancreatic cancer.</a:t>
            </a:r>
          </a:p>
          <a:p>
            <a:r>
              <a:rPr lang="en-US" sz="1200" dirty="0"/>
              <a:t>The client’s current portfolio consists of one Oncology product for rare lymphomas (launched in 2005), one Oncology product for metastatic cervical cancer (launched 2019), and one Oncology product for HER2+ metastatic breast cancer (launched 2020)</a:t>
            </a:r>
          </a:p>
          <a:p>
            <a:r>
              <a:rPr lang="en-US" sz="1200" dirty="0"/>
              <a:t>The client is expecting to get FDA approval for </a:t>
            </a:r>
            <a:r>
              <a:rPr lang="en-US" sz="1200" dirty="0" err="1"/>
              <a:t>Pinethase</a:t>
            </a:r>
            <a:r>
              <a:rPr lang="en-US" sz="1200" dirty="0"/>
              <a:t> in about 6 months</a:t>
            </a:r>
          </a:p>
          <a:p>
            <a:endParaRPr lang="en-US" sz="120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Market Overview</a:t>
            </a:r>
          </a:p>
          <a:p>
            <a:r>
              <a:rPr lang="en-US" sz="1200" dirty="0"/>
              <a:t>Mature, inadequate (3-4 key products), highly genericized (70%+)</a:t>
            </a:r>
          </a:p>
          <a:p>
            <a:r>
              <a:rPr lang="en-US" sz="1200" dirty="0"/>
              <a:t>Typical patient profile is elderly (65+), fragile, and has multiple comorbidities (and many prescription therapies)</a:t>
            </a:r>
          </a:p>
          <a:p>
            <a:r>
              <a:rPr lang="en-US" sz="1200" dirty="0"/>
              <a:t>Market research suggests that primarily Medical Oncologists and Radiation Oncologists operate in the locally advanced or metastatic pancreatic cancer market</a:t>
            </a:r>
          </a:p>
          <a:p>
            <a:endParaRPr lang="en-US" sz="120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Our Task</a:t>
            </a:r>
            <a:endParaRPr lang="en-US" sz="1400" dirty="0">
              <a:solidFill>
                <a:schemeClr val="accent1"/>
              </a:solidFill>
            </a:endParaRPr>
          </a:p>
          <a:p>
            <a:r>
              <a:rPr lang="en-US" sz="1200" dirty="0"/>
              <a:t>Make a recommendation on how our client should shape their US sales force for their new product, </a:t>
            </a:r>
            <a:r>
              <a:rPr lang="en-US" sz="1200" dirty="0" err="1"/>
              <a:t>Pinethase</a:t>
            </a:r>
            <a:endParaRPr lang="en-US" sz="1200" dirty="0"/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396D-2714-0989-60C4-B199C7C5FC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026" y="350981"/>
            <a:ext cx="11282239" cy="84227"/>
          </a:xfrm>
        </p:spPr>
        <p:txBody>
          <a:bodyPr/>
          <a:lstStyle/>
          <a:p>
            <a:r>
              <a:rPr lang="en-US" sz="800" cap="all" dirty="0"/>
              <a:t>Current Situation</a:t>
            </a:r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5991-AAFB-475D-9018-E289C0C8E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2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F4FE-274A-BC55-BFD7-3390D68B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F196B-F644-DCF2-7269-4AF9F68FD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Using the accompanying data set to support your recommendations (.</a:t>
            </a:r>
            <a:r>
              <a:rPr lang="en-US" sz="1200" dirty="0" err="1"/>
              <a:t>xslx</a:t>
            </a:r>
            <a:r>
              <a:rPr lang="en-US" sz="1200" dirty="0"/>
              <a:t>), please answer the following 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How many physicians should the client’s sales team target? How would you prioritize these physicians based on potential?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How many sales representatives would be required to service the list in question 1?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Beyond sales representatives, what other functions would you recommend that the client add?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Based on your answer in question 2, how would you divide up the country into equal opportunity territories? Show an example.</a:t>
            </a:r>
          </a:p>
          <a:p>
            <a:pPr marL="342900" indent="-342900">
              <a:buFont typeface="+mj-lt"/>
              <a:buAutoNum type="arabicPeriod"/>
            </a:pPr>
            <a:endParaRPr lang="en-US" sz="1200"/>
          </a:p>
          <a:p>
            <a:pPr marL="0" indent="0">
              <a:buNone/>
            </a:pPr>
            <a:r>
              <a:rPr lang="en-US" sz="1200" dirty="0"/>
              <a:t>Bonus:</a:t>
            </a:r>
          </a:p>
          <a:p>
            <a:pPr marL="0" indent="0">
              <a:buNone/>
            </a:pPr>
            <a:r>
              <a:rPr lang="en-US" sz="1200" dirty="0"/>
              <a:t>What other analyses would you want to do to ensure rigor? What other curiosities would you want to investigate?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8877A-45AE-0F28-5FC4-84BF80F561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025" y="333923"/>
            <a:ext cx="11282239" cy="203200"/>
          </a:xfrm>
        </p:spPr>
        <p:txBody>
          <a:bodyPr/>
          <a:lstStyle/>
          <a:p>
            <a:r>
              <a:rPr lang="en-US" sz="800" cap="all" dirty="0"/>
              <a:t>Questions to guide your thinking</a:t>
            </a:r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C5A66-493A-2CFD-5126-212D1D9D9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2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9006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D45A-5B71-7132-80DD-638ADE7E4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D7236-F46C-3694-3732-1291D7C1B2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026" y="389489"/>
            <a:ext cx="11282239" cy="45719"/>
          </a:xfrm>
        </p:spPr>
        <p:txBody>
          <a:bodyPr/>
          <a:lstStyle/>
          <a:p>
            <a:r>
              <a:rPr lang="en-US" sz="800" cap="all" dirty="0"/>
              <a:t>Anticipated Product Profile: </a:t>
            </a:r>
            <a:r>
              <a:rPr lang="en-US" sz="800" cap="all" dirty="0" err="1"/>
              <a:t>Pinethase</a:t>
            </a:r>
            <a:endParaRPr lang="en-US" sz="800" cap="all" dirty="0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F68DE-4B8A-367C-0D8C-6ECDCC519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10">
            <a:extLst>
              <a:ext uri="{FF2B5EF4-FFF2-40B4-BE49-F238E27FC236}">
                <a16:creationId xmlns:a16="http://schemas.microsoft.com/office/drawing/2014/main" id="{1700D137-289D-509D-AA2F-36F31A209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720714"/>
              </p:ext>
            </p:extLst>
          </p:nvPr>
        </p:nvGraphicFramePr>
        <p:xfrm>
          <a:off x="350837" y="1276432"/>
          <a:ext cx="8458200" cy="3352053"/>
        </p:xfrm>
        <a:graphic>
          <a:graphicData uri="http://schemas.openxmlformats.org/drawingml/2006/table">
            <a:tbl>
              <a:tblPr firstCol="1">
                <a:tableStyleId>{7E9639D4-E3E2-4D34-9284-5A2195B3D0D7}</a:tableStyleId>
              </a:tblPr>
              <a:tblGrid>
                <a:gridCol w="1330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08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/>
                        <a:cs typeface="Arial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treatment of adult patients with locally advanced or metastatic pancreatic cancer who have previously received a chemotherapy and/or a platinum-containing chemotherapy in the neoadjuvant/adjuvant, locally advanced or metastatic setting.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7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Dosing &amp;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administration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/>
                        <a:cs typeface="Arial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/>
                        <a:t>For intravenous use only. Once weekly infusion.</a:t>
                      </a:r>
                    </a:p>
                  </a:txBody>
                  <a:tcPr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6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Product concept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/>
                        <a:cs typeface="Arial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/>
                        <a:t>Antibody-drug conjugate for locally advanced or metastatic pancreatic cancer patients</a:t>
                      </a:r>
                      <a:endParaRPr lang="en-US" sz="1200" baseline="0" dirty="0"/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baseline="0" dirty="0"/>
                        <a:t>Specifically, this is the only medical therapy that has proven to reduce pancreatic cancer in a locally advanced or metastatic setting</a:t>
                      </a:r>
                    </a:p>
                  </a:txBody>
                  <a:tcPr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6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/>
                          <a:cs typeface="Arial" pitchFamily="34" charset="0"/>
                        </a:rPr>
                        <a:t>Efficacy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Pinethase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 delivered a complete response in 12% (n=15/125) of patients and a partial response in 32% (n=40/125) of patients in clinical trials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Pinethase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 achieved a clinically meaningful response in patients</a:t>
                      </a:r>
                      <a:endParaRPr lang="en-US" sz="1200" dirty="0"/>
                    </a:p>
                  </a:txBody>
                  <a:tcPr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423260"/>
                  </a:ext>
                </a:extLst>
              </a:tr>
              <a:tr h="69063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/>
                          <a:cs typeface="Arial" pitchFamily="34" charset="0"/>
                        </a:rPr>
                        <a:t>Safety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baseline="0" dirty="0"/>
                        <a:t>Concomitant use with CYP3A4 inhibitors is not advised and may increase the incidence of </a:t>
                      </a:r>
                      <a:r>
                        <a:rPr lang="en-US" sz="1200" baseline="0" dirty="0" err="1"/>
                        <a:t>Pinethase</a:t>
                      </a:r>
                      <a:r>
                        <a:rPr lang="en-US" sz="1200" baseline="0" dirty="0"/>
                        <a:t> toxicities</a:t>
                      </a:r>
                    </a:p>
                  </a:txBody>
                  <a:tcPr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08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20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FAE51-1C0F-37B2-BCEE-61E17C26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US incidence of pancreatic cancer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4862B-D195-61C3-FB21-F7DC1DEEB4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026" y="389489"/>
            <a:ext cx="11282239" cy="45719"/>
          </a:xfrm>
        </p:spPr>
        <p:txBody>
          <a:bodyPr/>
          <a:lstStyle/>
          <a:p>
            <a:r>
              <a:rPr lang="en-US" sz="800" cap="all"/>
              <a:t>Epidemiology overview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7DB94-3921-2C9F-9D37-01BB718AF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B7ACA-80A7-81A0-5CC7-0B42B69B93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3024" y="1320738"/>
            <a:ext cx="8458200" cy="3783359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63B3C80-AFE1-1FEE-2DD3-E37E3AC2C628}"/>
              </a:ext>
            </a:extLst>
          </p:cNvPr>
          <p:cNvSpPr txBox="1">
            <a:spLocks/>
          </p:cNvSpPr>
          <p:nvPr/>
        </p:nvSpPr>
        <p:spPr>
          <a:xfrm>
            <a:off x="822036" y="5595736"/>
            <a:ext cx="8458200" cy="3540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525"/>
              </a:spcBef>
              <a:buClr>
                <a:schemeClr val="tx1">
                  <a:lumMod val="40000"/>
                  <a:lumOff val="60000"/>
                </a:schemeClr>
              </a:buClr>
              <a:buSzPct val="110000"/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5281" indent="-172641" algn="l" defTabSz="685800" rtl="0" eaLnBrk="1" latinLnBrk="0" hangingPunct="1">
              <a:lnSpc>
                <a:spcPct val="100000"/>
              </a:lnSpc>
              <a:spcBef>
                <a:spcPts val="525"/>
              </a:spcBef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  <a:tabLst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9113" indent="-173831" algn="l" defTabSz="685800" rtl="0" eaLnBrk="1" latinLnBrk="0" hangingPunct="1">
              <a:lnSpc>
                <a:spcPct val="100000"/>
              </a:lnSpc>
              <a:spcBef>
                <a:spcPts val="525"/>
              </a:spcBef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  <a:tabLst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54781" algn="l" defTabSz="685800" rtl="0" eaLnBrk="1" latinLnBrk="0" hangingPunct="1">
              <a:lnSpc>
                <a:spcPct val="100000"/>
              </a:lnSpc>
              <a:spcBef>
                <a:spcPts val="525"/>
              </a:spcBef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  <a:tabLst/>
              <a:defRPr sz="8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631" indent="-173831" algn="l" defTabSz="685800" rtl="0" eaLnBrk="1" latinLnBrk="0" hangingPunct="1">
              <a:lnSpc>
                <a:spcPct val="100000"/>
              </a:lnSpc>
              <a:spcBef>
                <a:spcPts val="525"/>
              </a:spcBef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  <a:tabLst/>
              <a:defRPr sz="8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Source: https://seer.cancer.gov/statfacts/html/pancreas.html</a:t>
            </a:r>
          </a:p>
        </p:txBody>
      </p:sp>
    </p:spTree>
    <p:extLst>
      <p:ext uri="{BB962C8B-B14F-4D97-AF65-F5344CB8AC3E}">
        <p14:creationId xmlns:p14="http://schemas.microsoft.com/office/powerpoint/2010/main" val="324123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F356-6C4A-8522-F1A4-1DEAF48A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Medical Oncologist-Focused Journey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9A4CE-FA9E-77D6-BE91-758F49D707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026" y="333923"/>
            <a:ext cx="11282239" cy="203200"/>
          </a:xfrm>
        </p:spPr>
        <p:txBody>
          <a:bodyPr/>
          <a:lstStyle/>
          <a:p>
            <a:r>
              <a:rPr lang="en-US" sz="800" cap="all"/>
              <a:t>Pancreatic Cancer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32E04-47ED-5265-3567-802749207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http://i.telegraph.co.uk/multimedia/archive/02108/ashley-harrison_2108812c.jpg">
            <a:extLst>
              <a:ext uri="{FF2B5EF4-FFF2-40B4-BE49-F238E27FC236}">
                <a16:creationId xmlns:a16="http://schemas.microsoft.com/office/drawing/2014/main" id="{EF899123-AF64-EC3F-7E83-1494B89982D1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2096" y="1164265"/>
            <a:ext cx="1032916" cy="1060551"/>
          </a:xfrm>
          <a:prstGeom prst="ellipse">
            <a:avLst/>
          </a:prstGeom>
          <a:ln w="63500" cap="rnd">
            <a:solidFill>
              <a:schemeClr val="accent2">
                <a:lumMod val="20000"/>
                <a:lumOff val="80000"/>
              </a:schemeClr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2FA77-EB57-55D3-EC32-12686D2B9BB8}"/>
              </a:ext>
            </a:extLst>
          </p:cNvPr>
          <p:cNvSpPr txBox="1"/>
          <p:nvPr/>
        </p:nvSpPr>
        <p:spPr>
          <a:xfrm>
            <a:off x="962516" y="2264281"/>
            <a:ext cx="1322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Lewis, CTA Driver</a:t>
            </a:r>
          </a:p>
          <a:p>
            <a:pPr algn="ctr"/>
            <a:r>
              <a:rPr lang="en-US" sz="1200" b="1"/>
              <a:t>Age 60</a:t>
            </a:r>
            <a:endParaRPr lang="en-US" sz="1200" b="1">
              <a:solidFill>
                <a:schemeClr val="accent1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BBFCE9F-FD10-471A-BCA0-41013093D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010692"/>
              </p:ext>
            </p:extLst>
          </p:nvPr>
        </p:nvGraphicFramePr>
        <p:xfrm>
          <a:off x="1626704" y="2947873"/>
          <a:ext cx="7629409" cy="1985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690CAC31-BF4E-F283-D235-25C881730787}"/>
              </a:ext>
            </a:extLst>
          </p:cNvPr>
          <p:cNvSpPr/>
          <p:nvPr/>
        </p:nvSpPr>
        <p:spPr bwMode="auto">
          <a:xfrm>
            <a:off x="1990207" y="4250423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81868-2639-0FF3-7E86-2D53D13E3974}"/>
              </a:ext>
            </a:extLst>
          </p:cNvPr>
          <p:cNvSpPr txBox="1"/>
          <p:nvPr/>
        </p:nvSpPr>
        <p:spPr>
          <a:xfrm rot="16200000">
            <a:off x="610120" y="3581458"/>
            <a:ext cx="1650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</a:rPr>
              <a:t>Patient Symptoms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A55BBC-B60C-0C33-573C-9925AF53F2B0}"/>
              </a:ext>
            </a:extLst>
          </p:cNvPr>
          <p:cNvSpPr/>
          <p:nvPr/>
        </p:nvSpPr>
        <p:spPr bwMode="auto">
          <a:xfrm>
            <a:off x="2322952" y="4077252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EF2FE0-DD21-481D-3DB1-19642401BEA6}"/>
              </a:ext>
            </a:extLst>
          </p:cNvPr>
          <p:cNvSpPr/>
          <p:nvPr/>
        </p:nvSpPr>
        <p:spPr bwMode="auto">
          <a:xfrm>
            <a:off x="2785555" y="3834078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A4C6A3-1C4C-C8F5-D282-EEA003E4D717}"/>
              </a:ext>
            </a:extLst>
          </p:cNvPr>
          <p:cNvSpPr txBox="1"/>
          <p:nvPr/>
        </p:nvSpPr>
        <p:spPr>
          <a:xfrm>
            <a:off x="1301470" y="5472516"/>
            <a:ext cx="1266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During work one day, sudden abdominal pain and itching.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0D2AC0-F9A6-C6F7-5400-062433E96640}"/>
              </a:ext>
            </a:extLst>
          </p:cNvPr>
          <p:cNvCxnSpPr/>
          <p:nvPr/>
        </p:nvCxnSpPr>
        <p:spPr>
          <a:xfrm>
            <a:off x="2386747" y="3583179"/>
            <a:ext cx="0" cy="504706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BF7C03-E7FF-2433-9AF7-85EDA1C60F4D}"/>
              </a:ext>
            </a:extLst>
          </p:cNvPr>
          <p:cNvSpPr txBox="1"/>
          <p:nvPr/>
        </p:nvSpPr>
        <p:spPr>
          <a:xfrm>
            <a:off x="1771749" y="3090049"/>
            <a:ext cx="1269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Jaundice begins to occur. Patient decides to go to an urgent care clinic.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D0A036-CA4D-00A8-ED7C-F6E5258A59EC}"/>
              </a:ext>
            </a:extLst>
          </p:cNvPr>
          <p:cNvCxnSpPr>
            <a:stCxn id="11" idx="4"/>
          </p:cNvCxnSpPr>
          <p:nvPr/>
        </p:nvCxnSpPr>
        <p:spPr>
          <a:xfrm>
            <a:off x="2857474" y="3977915"/>
            <a:ext cx="0" cy="667512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35E4B0-AFFD-1A9E-7497-9FA91B78CF7E}"/>
              </a:ext>
            </a:extLst>
          </p:cNvPr>
          <p:cNvSpPr txBox="1"/>
          <p:nvPr/>
        </p:nvSpPr>
        <p:spPr>
          <a:xfrm>
            <a:off x="2666999" y="4691286"/>
            <a:ext cx="11553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At clinic, physician performs physical exam and finds mass in abdomen.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211BCC-609E-A7B7-054D-0B6827B03179}"/>
              </a:ext>
            </a:extLst>
          </p:cNvPr>
          <p:cNvSpPr/>
          <p:nvPr/>
        </p:nvSpPr>
        <p:spPr bwMode="auto">
          <a:xfrm>
            <a:off x="3161550" y="3905022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E8898D-D33F-8B62-EFAD-D4CE68949802}"/>
              </a:ext>
            </a:extLst>
          </p:cNvPr>
          <p:cNvCxnSpPr/>
          <p:nvPr/>
        </p:nvCxnSpPr>
        <p:spPr>
          <a:xfrm>
            <a:off x="3229149" y="2947872"/>
            <a:ext cx="0" cy="1005840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B00536B-334B-EC8D-39FB-DB9975304DB4}"/>
              </a:ext>
            </a:extLst>
          </p:cNvPr>
          <p:cNvSpPr txBox="1"/>
          <p:nvPr/>
        </p:nvSpPr>
        <p:spPr>
          <a:xfrm>
            <a:off x="2576690" y="1965247"/>
            <a:ext cx="16694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Physician refers patient to a Medical Oncologist who runs tests. Finds bile flow being blocked and detects mass in pancreas via CT scan.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1394D9-95D2-4866-A352-E0187B30CD1E}"/>
              </a:ext>
            </a:extLst>
          </p:cNvPr>
          <p:cNvSpPr/>
          <p:nvPr/>
        </p:nvSpPr>
        <p:spPr bwMode="auto">
          <a:xfrm>
            <a:off x="3983208" y="4263381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9A261A-5604-AE91-02D5-1E350F97419A}"/>
              </a:ext>
            </a:extLst>
          </p:cNvPr>
          <p:cNvCxnSpPr>
            <a:stCxn id="20" idx="4"/>
          </p:cNvCxnSpPr>
          <p:nvPr/>
        </p:nvCxnSpPr>
        <p:spPr>
          <a:xfrm>
            <a:off x="4055127" y="4407219"/>
            <a:ext cx="758" cy="1260992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D07E17D-6371-C8F2-DAA6-6C912496008E}"/>
              </a:ext>
            </a:extLst>
          </p:cNvPr>
          <p:cNvSpPr txBox="1"/>
          <p:nvPr/>
        </p:nvSpPr>
        <p:spPr>
          <a:xfrm>
            <a:off x="3814592" y="5625361"/>
            <a:ext cx="1155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Biopsy taken at follow up appointment to confirm locally advanced Pancreatic Cancer diagnosis.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D3A5C77-35CC-EEA8-C7EE-49C86EC6696F}"/>
              </a:ext>
            </a:extLst>
          </p:cNvPr>
          <p:cNvSpPr/>
          <p:nvPr/>
        </p:nvSpPr>
        <p:spPr bwMode="auto">
          <a:xfrm>
            <a:off x="5066807" y="4248130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AFF9AD-988C-47B0-725A-91D4EEE9E85A}"/>
              </a:ext>
            </a:extLst>
          </p:cNvPr>
          <p:cNvCxnSpPr/>
          <p:nvPr/>
        </p:nvCxnSpPr>
        <p:spPr>
          <a:xfrm flipH="1">
            <a:off x="5134856" y="3669599"/>
            <a:ext cx="1" cy="643845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6AFCB6-C5D0-6B45-6DA0-55E0F87D5045}"/>
              </a:ext>
            </a:extLst>
          </p:cNvPr>
          <p:cNvSpPr txBox="1"/>
          <p:nvPr/>
        </p:nvSpPr>
        <p:spPr>
          <a:xfrm>
            <a:off x="4510815" y="2809769"/>
            <a:ext cx="1269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Patient endures 7 weeks of gemcitabine chemotherapy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4E591DA-8D70-E977-5E12-BA7B92B4A688}"/>
              </a:ext>
            </a:extLst>
          </p:cNvPr>
          <p:cNvSpPr/>
          <p:nvPr/>
        </p:nvSpPr>
        <p:spPr bwMode="auto">
          <a:xfrm>
            <a:off x="5829642" y="4193772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D3FDBC-4332-8A53-5A81-C0EA23467011}"/>
              </a:ext>
            </a:extLst>
          </p:cNvPr>
          <p:cNvCxnSpPr/>
          <p:nvPr/>
        </p:nvCxnSpPr>
        <p:spPr>
          <a:xfrm>
            <a:off x="5902968" y="4325560"/>
            <a:ext cx="0" cy="504706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4E10074-F3FC-986C-AA38-72754024D2CE}"/>
              </a:ext>
            </a:extLst>
          </p:cNvPr>
          <p:cNvSpPr txBox="1"/>
          <p:nvPr/>
        </p:nvSpPr>
        <p:spPr>
          <a:xfrm>
            <a:off x="5389805" y="4844667"/>
            <a:ext cx="115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Abdominal pain is now accompanied by fever and fatigue.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8505F0-5724-7F5F-7482-221F6D9B4891}"/>
              </a:ext>
            </a:extLst>
          </p:cNvPr>
          <p:cNvSpPr/>
          <p:nvPr/>
        </p:nvSpPr>
        <p:spPr bwMode="auto">
          <a:xfrm>
            <a:off x="6495275" y="4020981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7B1566-83C5-C781-B6EE-481BC05C948C}"/>
              </a:ext>
            </a:extLst>
          </p:cNvPr>
          <p:cNvSpPr txBox="1"/>
          <p:nvPr/>
        </p:nvSpPr>
        <p:spPr>
          <a:xfrm>
            <a:off x="6174135" y="2527623"/>
            <a:ext cx="1078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Follow up visit with Medical Oncologist shows that the cancer spread is still increasing slowly.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D4BC86-C288-8082-E745-E91B36CBCD6F}"/>
              </a:ext>
            </a:extLst>
          </p:cNvPr>
          <p:cNvSpPr/>
          <p:nvPr/>
        </p:nvSpPr>
        <p:spPr bwMode="auto">
          <a:xfrm>
            <a:off x="7222035" y="3797424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F394FE-5791-AA51-BC7F-8340CB7E53D4}"/>
              </a:ext>
            </a:extLst>
          </p:cNvPr>
          <p:cNvCxnSpPr/>
          <p:nvPr/>
        </p:nvCxnSpPr>
        <p:spPr>
          <a:xfrm flipH="1">
            <a:off x="7289043" y="3941644"/>
            <a:ext cx="86" cy="1343979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4DCEF02E-C874-F8AD-6EF9-5E5B0A5F8278}"/>
              </a:ext>
            </a:extLst>
          </p:cNvPr>
          <p:cNvSpPr/>
          <p:nvPr/>
        </p:nvSpPr>
        <p:spPr bwMode="auto">
          <a:xfrm>
            <a:off x="8291795" y="3574007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EC49A0-5B07-5D80-954E-6A1B95888AF4}"/>
              </a:ext>
            </a:extLst>
          </p:cNvPr>
          <p:cNvCxnSpPr/>
          <p:nvPr/>
        </p:nvCxnSpPr>
        <p:spPr>
          <a:xfrm>
            <a:off x="8352563" y="2016706"/>
            <a:ext cx="0" cy="1551943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58FD40A-6912-C98A-AFB1-6532C88F3D1D}"/>
              </a:ext>
            </a:extLst>
          </p:cNvPr>
          <p:cNvSpPr txBox="1"/>
          <p:nvPr/>
        </p:nvSpPr>
        <p:spPr>
          <a:xfrm>
            <a:off x="7788963" y="1549682"/>
            <a:ext cx="1209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Fever and fatigue have become constant and patient is bedridden.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BDDB639-4297-3588-5444-994FB4A992E0}"/>
              </a:ext>
            </a:extLst>
          </p:cNvPr>
          <p:cNvCxnSpPr>
            <a:endCxn id="29" idx="0"/>
          </p:cNvCxnSpPr>
          <p:nvPr/>
        </p:nvCxnSpPr>
        <p:spPr>
          <a:xfrm>
            <a:off x="6564626" y="3231121"/>
            <a:ext cx="2569" cy="789860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ular Callout 114">
            <a:extLst>
              <a:ext uri="{FF2B5EF4-FFF2-40B4-BE49-F238E27FC236}">
                <a16:creationId xmlns:a16="http://schemas.microsoft.com/office/drawing/2014/main" id="{5A2F7F0C-BBA1-A163-A5B8-E32A01D9D27A}"/>
              </a:ext>
            </a:extLst>
          </p:cNvPr>
          <p:cNvSpPr/>
          <p:nvPr/>
        </p:nvSpPr>
        <p:spPr>
          <a:xfrm>
            <a:off x="2281339" y="1156597"/>
            <a:ext cx="2328279" cy="795559"/>
          </a:xfrm>
          <a:prstGeom prst="wedgeRectCallout">
            <a:avLst>
              <a:gd name="adj1" fmla="val -57300"/>
              <a:gd name="adj2" fmla="val 338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The constant fatigue and nausea make it really hard for me to enjoy time with my family. Is there another way we can treat it?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4AE25DB-C92E-EE85-53B5-6F40FC46FCC9}"/>
              </a:ext>
            </a:extLst>
          </p:cNvPr>
          <p:cNvSpPr/>
          <p:nvPr/>
        </p:nvSpPr>
        <p:spPr bwMode="auto">
          <a:xfrm>
            <a:off x="579627" y="4904512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85FE4FA-9652-B271-ED40-7939249D676E}"/>
              </a:ext>
            </a:extLst>
          </p:cNvPr>
          <p:cNvSpPr/>
          <p:nvPr/>
        </p:nvSpPr>
        <p:spPr bwMode="auto">
          <a:xfrm>
            <a:off x="572085" y="5236649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D3DE82-0C8A-D838-6417-7B415659EF98}"/>
              </a:ext>
            </a:extLst>
          </p:cNvPr>
          <p:cNvSpPr txBox="1"/>
          <p:nvPr/>
        </p:nvSpPr>
        <p:spPr>
          <a:xfrm>
            <a:off x="715923" y="5227791"/>
            <a:ext cx="6543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Event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391AD-1BA9-0600-1B20-938E012D2C4E}"/>
              </a:ext>
            </a:extLst>
          </p:cNvPr>
          <p:cNvSpPr txBox="1"/>
          <p:nvPr/>
        </p:nvSpPr>
        <p:spPr>
          <a:xfrm>
            <a:off x="698487" y="4848295"/>
            <a:ext cx="951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Physician Visit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945A9BA-0475-830C-1A2C-09694AF929B5}"/>
              </a:ext>
            </a:extLst>
          </p:cNvPr>
          <p:cNvCxnSpPr/>
          <p:nvPr/>
        </p:nvCxnSpPr>
        <p:spPr>
          <a:xfrm>
            <a:off x="2073400" y="4402429"/>
            <a:ext cx="0" cy="1078992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D83886C-9BD4-A147-5AAA-44905B7C043E}"/>
              </a:ext>
            </a:extLst>
          </p:cNvPr>
          <p:cNvSpPr txBox="1"/>
          <p:nvPr/>
        </p:nvSpPr>
        <p:spPr>
          <a:xfrm>
            <a:off x="6649488" y="5300023"/>
            <a:ext cx="160837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Medical Oncologist recommends another cycle of gemcitabine, this time combined with erlotinib.</a:t>
            </a:r>
          </a:p>
        </p:txBody>
      </p:sp>
    </p:spTree>
    <p:extLst>
      <p:ext uri="{BB962C8B-B14F-4D97-AF65-F5344CB8AC3E}">
        <p14:creationId xmlns:p14="http://schemas.microsoft.com/office/powerpoint/2010/main" val="2643841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68C3-D40D-5C3B-D385-ED05A994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Radiation Oncologist-Focused Journey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44736-3D89-DCAC-D593-575691BE4C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026" y="359634"/>
            <a:ext cx="11282239" cy="203200"/>
          </a:xfrm>
        </p:spPr>
        <p:txBody>
          <a:bodyPr/>
          <a:lstStyle/>
          <a:p>
            <a:r>
              <a:rPr lang="en-US" sz="800" cap="all"/>
              <a:t>Pancreatic cancer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4B3CE-0E62-9302-5FFA-4C59F3EDE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1376" y="6458720"/>
            <a:ext cx="9659619" cy="365125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94C1CF6-6D77-1D85-1F57-EE6210BE2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6345294"/>
              </p:ext>
            </p:extLst>
          </p:nvPr>
        </p:nvGraphicFramePr>
        <p:xfrm>
          <a:off x="1544147" y="2896312"/>
          <a:ext cx="7629409" cy="1985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DA0189E-8C7D-60D6-D818-D9C976AC3C2D}"/>
              </a:ext>
            </a:extLst>
          </p:cNvPr>
          <p:cNvSpPr/>
          <p:nvPr/>
        </p:nvSpPr>
        <p:spPr bwMode="auto">
          <a:xfrm>
            <a:off x="1907650" y="4198862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F3CE7-C142-0FB9-496D-B898552609BA}"/>
              </a:ext>
            </a:extLst>
          </p:cNvPr>
          <p:cNvSpPr txBox="1"/>
          <p:nvPr/>
        </p:nvSpPr>
        <p:spPr>
          <a:xfrm rot="16200000">
            <a:off x="482162" y="3555532"/>
            <a:ext cx="1650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</a:rPr>
              <a:t>Patient Symptoms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D11E0F-52A5-D5C1-25B8-40E1A8BEFF88}"/>
              </a:ext>
            </a:extLst>
          </p:cNvPr>
          <p:cNvSpPr/>
          <p:nvPr/>
        </p:nvSpPr>
        <p:spPr bwMode="auto">
          <a:xfrm>
            <a:off x="2240395" y="4025691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EB8214-6DD3-A5F4-DEC5-4E922EB3AB7C}"/>
              </a:ext>
            </a:extLst>
          </p:cNvPr>
          <p:cNvSpPr/>
          <p:nvPr/>
        </p:nvSpPr>
        <p:spPr bwMode="auto">
          <a:xfrm>
            <a:off x="2702998" y="3782517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3AC6D-B522-AB07-7F62-A4FEB290954B}"/>
              </a:ext>
            </a:extLst>
          </p:cNvPr>
          <p:cNvSpPr txBox="1"/>
          <p:nvPr/>
        </p:nvSpPr>
        <p:spPr>
          <a:xfrm>
            <a:off x="1218913" y="5420955"/>
            <a:ext cx="1266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During work one day, sudden nausea and vomiting.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E0BEDF-ABE1-9486-C03A-46EA67BBCB84}"/>
              </a:ext>
            </a:extLst>
          </p:cNvPr>
          <p:cNvCxnSpPr/>
          <p:nvPr/>
        </p:nvCxnSpPr>
        <p:spPr>
          <a:xfrm>
            <a:off x="2304190" y="3531618"/>
            <a:ext cx="0" cy="504706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58408ED-F572-1506-7ECC-5001E1EF4F59}"/>
              </a:ext>
            </a:extLst>
          </p:cNvPr>
          <p:cNvSpPr txBox="1"/>
          <p:nvPr/>
        </p:nvSpPr>
        <p:spPr>
          <a:xfrm>
            <a:off x="1689192" y="3038487"/>
            <a:ext cx="1269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Patient loses appetite for a couple days. Makes an appointment with Primary Healthcare Provider.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F81E06-6F19-AB27-1992-195EB6E3F7C0}"/>
              </a:ext>
            </a:extLst>
          </p:cNvPr>
          <p:cNvCxnSpPr>
            <a:stCxn id="9" idx="4"/>
          </p:cNvCxnSpPr>
          <p:nvPr/>
        </p:nvCxnSpPr>
        <p:spPr>
          <a:xfrm>
            <a:off x="2774917" y="3926354"/>
            <a:ext cx="0" cy="667512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98BD3DD-4A68-069A-A3E5-1E7ABFDADEAD}"/>
              </a:ext>
            </a:extLst>
          </p:cNvPr>
          <p:cNvSpPr txBox="1"/>
          <p:nvPr/>
        </p:nvSpPr>
        <p:spPr>
          <a:xfrm>
            <a:off x="2584442" y="4639725"/>
            <a:ext cx="11553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At clinic, physician performs physical exam and finds swollen lymph nodes in the neck.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ED7784-3A66-D100-FA1B-3381B3540A1F}"/>
              </a:ext>
            </a:extLst>
          </p:cNvPr>
          <p:cNvSpPr/>
          <p:nvPr/>
        </p:nvSpPr>
        <p:spPr bwMode="auto">
          <a:xfrm>
            <a:off x="3078993" y="3853461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8638FE-EFF5-13FB-7541-8ED2C23E83D7}"/>
              </a:ext>
            </a:extLst>
          </p:cNvPr>
          <p:cNvCxnSpPr/>
          <p:nvPr/>
        </p:nvCxnSpPr>
        <p:spPr>
          <a:xfrm>
            <a:off x="3146592" y="2896311"/>
            <a:ext cx="0" cy="1005840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D3439F0-E68C-5950-6A38-97D2AF013E23}"/>
              </a:ext>
            </a:extLst>
          </p:cNvPr>
          <p:cNvSpPr txBox="1"/>
          <p:nvPr/>
        </p:nvSpPr>
        <p:spPr>
          <a:xfrm>
            <a:off x="2494133" y="1913687"/>
            <a:ext cx="166943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In a follow up visit, physician does an MRI and ultrasound and detects mass in pancreas.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DB0850-CA81-0121-BDC2-DC57C97E6D74}"/>
              </a:ext>
            </a:extLst>
          </p:cNvPr>
          <p:cNvSpPr/>
          <p:nvPr/>
        </p:nvSpPr>
        <p:spPr bwMode="auto">
          <a:xfrm>
            <a:off x="3900651" y="4211820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5CBF456-0890-CEE2-A25D-E5C96F595CF4}"/>
              </a:ext>
            </a:extLst>
          </p:cNvPr>
          <p:cNvCxnSpPr>
            <a:stCxn id="18" idx="4"/>
          </p:cNvCxnSpPr>
          <p:nvPr/>
        </p:nvCxnSpPr>
        <p:spPr>
          <a:xfrm>
            <a:off x="3972570" y="4355658"/>
            <a:ext cx="758" cy="1260992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FE4BA81-C974-ED79-80E5-BE5A63E32B6C}"/>
              </a:ext>
            </a:extLst>
          </p:cNvPr>
          <p:cNvSpPr txBox="1"/>
          <p:nvPr/>
        </p:nvSpPr>
        <p:spPr>
          <a:xfrm>
            <a:off x="3732035" y="5573800"/>
            <a:ext cx="1155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Biopsy taken at follow up appointment to confirm metastatic Pancreatic Cancer diagnosis.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4E943F-B60A-59A7-EBD7-38F2158539EA}"/>
              </a:ext>
            </a:extLst>
          </p:cNvPr>
          <p:cNvSpPr/>
          <p:nvPr/>
        </p:nvSpPr>
        <p:spPr bwMode="auto">
          <a:xfrm>
            <a:off x="4984250" y="4196569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29528B-7615-85DD-334F-5A60EB4D51E7}"/>
              </a:ext>
            </a:extLst>
          </p:cNvPr>
          <p:cNvCxnSpPr/>
          <p:nvPr/>
        </p:nvCxnSpPr>
        <p:spPr>
          <a:xfrm flipH="1">
            <a:off x="5063185" y="3618038"/>
            <a:ext cx="1" cy="643845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3C4ECB-0731-EE7B-C735-990547A4EC3E}"/>
              </a:ext>
            </a:extLst>
          </p:cNvPr>
          <p:cNvSpPr txBox="1"/>
          <p:nvPr/>
        </p:nvSpPr>
        <p:spPr>
          <a:xfrm>
            <a:off x="4428258" y="2758208"/>
            <a:ext cx="1269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Patient endures 7 weeks of gemcitabine chemotherapy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48148C2-01E7-3D3E-A44D-5EBCEDDC5B71}"/>
              </a:ext>
            </a:extLst>
          </p:cNvPr>
          <p:cNvSpPr/>
          <p:nvPr/>
        </p:nvSpPr>
        <p:spPr bwMode="auto">
          <a:xfrm>
            <a:off x="5747085" y="4142211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C63123-9EF4-0749-D191-5F250C9C434B}"/>
              </a:ext>
            </a:extLst>
          </p:cNvPr>
          <p:cNvCxnSpPr/>
          <p:nvPr/>
        </p:nvCxnSpPr>
        <p:spPr>
          <a:xfrm>
            <a:off x="5820411" y="4273999"/>
            <a:ext cx="0" cy="504706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141E9A3-1415-64A2-F56E-11F0EBF86CA2}"/>
              </a:ext>
            </a:extLst>
          </p:cNvPr>
          <p:cNvSpPr txBox="1"/>
          <p:nvPr/>
        </p:nvSpPr>
        <p:spPr>
          <a:xfrm>
            <a:off x="5307248" y="4793106"/>
            <a:ext cx="115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Nausea and vomiting is now accompanied with abdominal pain.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9EDF7A2-01CA-DA3C-8B71-057AA785CF62}"/>
              </a:ext>
            </a:extLst>
          </p:cNvPr>
          <p:cNvSpPr/>
          <p:nvPr/>
        </p:nvSpPr>
        <p:spPr bwMode="auto">
          <a:xfrm>
            <a:off x="6412718" y="3969420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74411C-9EFF-0F90-A2F3-0D2BDC908025}"/>
              </a:ext>
            </a:extLst>
          </p:cNvPr>
          <p:cNvSpPr txBox="1"/>
          <p:nvPr/>
        </p:nvSpPr>
        <p:spPr>
          <a:xfrm>
            <a:off x="6091578" y="2476061"/>
            <a:ext cx="1078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Patient sees a Radiation Oncologist to discuss radiation options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376F789-AAFF-822C-EBD6-59FAEB357D62}"/>
              </a:ext>
            </a:extLst>
          </p:cNvPr>
          <p:cNvSpPr/>
          <p:nvPr/>
        </p:nvSpPr>
        <p:spPr bwMode="auto">
          <a:xfrm>
            <a:off x="7139478" y="3745863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A3BEBC3-9018-30D5-8BCE-CDD90DFD87E7}"/>
              </a:ext>
            </a:extLst>
          </p:cNvPr>
          <p:cNvCxnSpPr/>
          <p:nvPr/>
        </p:nvCxnSpPr>
        <p:spPr>
          <a:xfrm flipH="1">
            <a:off x="7217372" y="3890083"/>
            <a:ext cx="86" cy="1343979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38D7375-DCAB-B10D-A5EE-4885190FD601}"/>
              </a:ext>
            </a:extLst>
          </p:cNvPr>
          <p:cNvSpPr/>
          <p:nvPr/>
        </p:nvSpPr>
        <p:spPr bwMode="auto">
          <a:xfrm>
            <a:off x="7937095" y="3838131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7370FA-1408-5226-9E65-8AC400E37DB7}"/>
              </a:ext>
            </a:extLst>
          </p:cNvPr>
          <p:cNvCxnSpPr/>
          <p:nvPr/>
        </p:nvCxnSpPr>
        <p:spPr>
          <a:xfrm>
            <a:off x="8019635" y="2280830"/>
            <a:ext cx="0" cy="1551943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3724C89-3483-920D-5257-D9FA0A965321}"/>
              </a:ext>
            </a:extLst>
          </p:cNvPr>
          <p:cNvSpPr txBox="1"/>
          <p:nvPr/>
        </p:nvSpPr>
        <p:spPr>
          <a:xfrm>
            <a:off x="7434263" y="1813806"/>
            <a:ext cx="120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Patient continues to have abdominal pain, nausea, and vomiting.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AA55321-505D-8890-BCE3-F30E5638B801}"/>
              </a:ext>
            </a:extLst>
          </p:cNvPr>
          <p:cNvCxnSpPr>
            <a:endCxn id="27" idx="0"/>
          </p:cNvCxnSpPr>
          <p:nvPr/>
        </p:nvCxnSpPr>
        <p:spPr>
          <a:xfrm>
            <a:off x="6482069" y="3179560"/>
            <a:ext cx="2569" cy="789860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ular Callout 114">
            <a:extLst>
              <a:ext uri="{FF2B5EF4-FFF2-40B4-BE49-F238E27FC236}">
                <a16:creationId xmlns:a16="http://schemas.microsoft.com/office/drawing/2014/main" id="{9A47DB3D-C5E1-8342-8C62-56B3DB0CEC75}"/>
              </a:ext>
            </a:extLst>
          </p:cNvPr>
          <p:cNvSpPr/>
          <p:nvPr/>
        </p:nvSpPr>
        <p:spPr>
          <a:xfrm>
            <a:off x="2198782" y="1105036"/>
            <a:ext cx="2328279" cy="713503"/>
          </a:xfrm>
          <a:prstGeom prst="wedgeRectCallout">
            <a:avLst>
              <a:gd name="adj1" fmla="val -57300"/>
              <a:gd name="adj2" fmla="val 338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I’m feeling strong with the chemo. How can we more aggressively treat this cancer?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B4B2F08-E805-1235-2437-308990F63259}"/>
              </a:ext>
            </a:extLst>
          </p:cNvPr>
          <p:cNvSpPr/>
          <p:nvPr/>
        </p:nvSpPr>
        <p:spPr bwMode="auto">
          <a:xfrm>
            <a:off x="497070" y="4852951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C62279-C044-CA96-0FCA-2A2B8F8B6CFD}"/>
              </a:ext>
            </a:extLst>
          </p:cNvPr>
          <p:cNvSpPr/>
          <p:nvPr/>
        </p:nvSpPr>
        <p:spPr bwMode="auto">
          <a:xfrm>
            <a:off x="512738" y="5209025"/>
            <a:ext cx="143838" cy="14383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8A73C5-0CDE-BA89-0B53-4D22B5DE1B2E}"/>
              </a:ext>
            </a:extLst>
          </p:cNvPr>
          <p:cNvSpPr txBox="1"/>
          <p:nvPr/>
        </p:nvSpPr>
        <p:spPr>
          <a:xfrm>
            <a:off x="633321" y="5193776"/>
            <a:ext cx="6543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Event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07E56E-FFD5-AFB8-3BE0-C6C39FF57BCC}"/>
              </a:ext>
            </a:extLst>
          </p:cNvPr>
          <p:cNvSpPr txBox="1"/>
          <p:nvPr/>
        </p:nvSpPr>
        <p:spPr>
          <a:xfrm>
            <a:off x="626342" y="4807499"/>
            <a:ext cx="951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Physician Visit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6D5149-5170-3121-8E4A-8FD2E5F80832}"/>
              </a:ext>
            </a:extLst>
          </p:cNvPr>
          <p:cNvCxnSpPr/>
          <p:nvPr/>
        </p:nvCxnSpPr>
        <p:spPr>
          <a:xfrm>
            <a:off x="1990843" y="4350868"/>
            <a:ext cx="0" cy="1078992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DC79069-CF27-237B-1959-4D655814C226}"/>
              </a:ext>
            </a:extLst>
          </p:cNvPr>
          <p:cNvSpPr txBox="1"/>
          <p:nvPr/>
        </p:nvSpPr>
        <p:spPr>
          <a:xfrm>
            <a:off x="6566931" y="5248462"/>
            <a:ext cx="16083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Patient undergoes radiation therapy.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B0B150-49A4-2EB4-BF4C-A6E509B508C0}"/>
              </a:ext>
            </a:extLst>
          </p:cNvPr>
          <p:cNvSpPr txBox="1"/>
          <p:nvPr/>
        </p:nvSpPr>
        <p:spPr>
          <a:xfrm>
            <a:off x="885113" y="2268799"/>
            <a:ext cx="138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Kathy, Accountant</a:t>
            </a:r>
          </a:p>
          <a:p>
            <a:pPr algn="ctr"/>
            <a:r>
              <a:rPr lang="en-US" sz="1200" b="1"/>
              <a:t>Age 64</a:t>
            </a:r>
            <a:endParaRPr lang="en-US" sz="1200" b="1">
              <a:solidFill>
                <a:schemeClr val="accent1"/>
              </a:solidFill>
            </a:endParaRPr>
          </a:p>
        </p:txBody>
      </p:sp>
      <p:pic>
        <p:nvPicPr>
          <p:cNvPr id="43" name="Picture 42" descr="http://cache4.asset-cache.net/xc/179050616.jpg?v=1&amp;c=IWSAsset&amp;k=2&amp;d=B53F616F4B95E553DA420ED8B8261E9ED5CBDCCCADA0E665356A31FD7D067AD2">
            <a:extLst>
              <a:ext uri="{FF2B5EF4-FFF2-40B4-BE49-F238E27FC236}">
                <a16:creationId xmlns:a16="http://schemas.microsoft.com/office/drawing/2014/main" id="{20E0BA0D-EFCC-45DA-E811-0DF4AC7E3C7E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26"/>
          <a:stretch/>
        </p:blipFill>
        <p:spPr bwMode="auto">
          <a:xfrm>
            <a:off x="885112" y="1133615"/>
            <a:ext cx="1022537" cy="1100361"/>
          </a:xfrm>
          <a:prstGeom prst="ellipse">
            <a:avLst/>
          </a:prstGeom>
          <a:noFill/>
          <a:ln w="63500" cap="rnd">
            <a:solidFill>
              <a:schemeClr val="accent2">
                <a:lumMod val="20000"/>
                <a:lumOff val="80000"/>
              </a:schemeClr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A641B566-898A-AF7F-A41C-C11352971AD3}"/>
              </a:ext>
            </a:extLst>
          </p:cNvPr>
          <p:cNvSpPr/>
          <p:nvPr/>
        </p:nvSpPr>
        <p:spPr bwMode="auto">
          <a:xfrm>
            <a:off x="8335818" y="3889891"/>
            <a:ext cx="143838" cy="143838"/>
          </a:xfrm>
          <a:prstGeom prst="ellipse">
            <a:avLst/>
          </a:prstGeom>
          <a:solidFill>
            <a:srgbClr val="F45A31"/>
          </a:solidFill>
          <a:ln w="12700">
            <a:solidFill>
              <a:srgbClr val="F45A3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6D5A5F-5537-9D07-95C7-26F800FB5C25}"/>
              </a:ext>
            </a:extLst>
          </p:cNvPr>
          <p:cNvCxnSpPr/>
          <p:nvPr/>
        </p:nvCxnSpPr>
        <p:spPr>
          <a:xfrm flipH="1">
            <a:off x="8413712" y="4034111"/>
            <a:ext cx="86" cy="1343979"/>
          </a:xfrm>
          <a:prstGeom prst="line">
            <a:avLst/>
          </a:prstGeom>
          <a:ln>
            <a:solidFill>
              <a:srgbClr val="F45A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06CFCFD-1FE8-BE09-DDDE-3F1499C60907}"/>
              </a:ext>
            </a:extLst>
          </p:cNvPr>
          <p:cNvSpPr txBox="1"/>
          <p:nvPr/>
        </p:nvSpPr>
        <p:spPr>
          <a:xfrm>
            <a:off x="7846824" y="5392490"/>
            <a:ext cx="1352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Patient continues to go to follow ups with Radiation Oncologist.</a:t>
            </a:r>
          </a:p>
        </p:txBody>
      </p:sp>
    </p:spTree>
    <p:extLst>
      <p:ext uri="{BB962C8B-B14F-4D97-AF65-F5344CB8AC3E}">
        <p14:creationId xmlns:p14="http://schemas.microsoft.com/office/powerpoint/2010/main" val="302762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319688"/>
      </p:ext>
    </p:extLst>
  </p:cSld>
  <p:clrMapOvr>
    <a:masterClrMapping/>
  </p:clrMapOvr>
</p:sld>
</file>

<file path=ppt/theme/theme1.xml><?xml version="1.0" encoding="utf-8"?>
<a:theme xmlns:a="http://schemas.openxmlformats.org/drawingml/2006/main" name="QRAL THEME">
  <a:themeElements>
    <a:clrScheme name="Qral New template">
      <a:dk1>
        <a:srgbClr val="2A3441"/>
      </a:dk1>
      <a:lt1>
        <a:srgbClr val="FFFFFF"/>
      </a:lt1>
      <a:dk2>
        <a:srgbClr val="562157"/>
      </a:dk2>
      <a:lt2>
        <a:srgbClr val="D7D7D9"/>
      </a:lt2>
      <a:accent1>
        <a:srgbClr val="A556BE"/>
      </a:accent1>
      <a:accent2>
        <a:srgbClr val="657D99"/>
      </a:accent2>
      <a:accent3>
        <a:srgbClr val="DF5745"/>
      </a:accent3>
      <a:accent4>
        <a:srgbClr val="E6A43D"/>
      </a:accent4>
      <a:accent5>
        <a:srgbClr val="00979B"/>
      </a:accent5>
      <a:accent6>
        <a:srgbClr val="4D71B6"/>
      </a:accent6>
      <a:hlink>
        <a:srgbClr val="A656BF"/>
      </a:hlink>
      <a:folHlink>
        <a:srgbClr val="222A3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0" tIns="0" rIns="0" bIns="0" rtlCol="0">
        <a:noAutofit/>
      </a:bodyPr>
      <a:lstStyle>
        <a:defPPr marL="228600" indent="-228600" algn="l">
          <a:lnSpc>
            <a:spcPct val="110000"/>
          </a:lnSpc>
          <a:spcBef>
            <a:spcPts val="1000"/>
          </a:spcBef>
          <a:buClr>
            <a:schemeClr val="tx1">
              <a:lumMod val="40000"/>
              <a:lumOff val="60000"/>
            </a:schemeClr>
          </a:buClr>
          <a:buSzPct val="110000"/>
          <a:buFont typeface="Wingdings" pitchFamily="2" charset="2"/>
          <a:buChar char="§"/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10517_qral_PPT_template" id="{21B3FCC3-AEE1-4B13-9E39-2575154DEA6F}" vid="{CC9FC2F8-DA5C-4E8A-9039-BF2C7AECCD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9F8CAFD9818429BD6C85725CC3937" ma:contentTypeVersion="16" ma:contentTypeDescription="Create a new document." ma:contentTypeScope="" ma:versionID="60f3f855304c706f899aaefb9383b621">
  <xsd:schema xmlns:xsd="http://www.w3.org/2001/XMLSchema" xmlns:xs="http://www.w3.org/2001/XMLSchema" xmlns:p="http://schemas.microsoft.com/office/2006/metadata/properties" xmlns:ns2="bd7d6c15-f90d-443a-8373-e28167d9eb43" xmlns:ns3="656d5558-7e79-4b11-b4ba-df3db2f96ab3" targetNamespace="http://schemas.microsoft.com/office/2006/metadata/properties" ma:root="true" ma:fieldsID="f64f29dd289a50464d015fdf295b065c" ns2:_="" ns3:_="">
    <xsd:import namespace="bd7d6c15-f90d-443a-8373-e28167d9eb43"/>
    <xsd:import namespace="656d5558-7e79-4b11-b4ba-df3db2f96a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7d6c15-f90d-443a-8373-e28167d9eb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e37b2b5-ae89-4c71-bb5b-033a651fae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6d5558-7e79-4b11-b4ba-df3db2f96a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dd0b0f8-5151-4c3f-a59e-3dfcd211771d}" ma:internalName="TaxCatchAll" ma:showField="CatchAllData" ma:web="656d5558-7e79-4b11-b4ba-df3db2f96a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7d6c15-f90d-443a-8373-e28167d9eb43">
      <Terms xmlns="http://schemas.microsoft.com/office/infopath/2007/PartnerControls"/>
    </lcf76f155ced4ddcb4097134ff3c332f>
    <TaxCatchAll xmlns="656d5558-7e79-4b11-b4ba-df3db2f96ab3" xsi:nil="true"/>
  </documentManagement>
</p:properties>
</file>

<file path=customXml/itemProps1.xml><?xml version="1.0" encoding="utf-8"?>
<ds:datastoreItem xmlns:ds="http://schemas.openxmlformats.org/officeDocument/2006/customXml" ds:itemID="{2D99F13B-5907-468E-B579-12790941D1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74BBC9-E064-4FB9-98DB-225EBDF24F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7d6c15-f90d-443a-8373-e28167d9eb43"/>
    <ds:schemaRef ds:uri="656d5558-7e79-4b11-b4ba-df3db2f96a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5CC245-92A6-4D60-85D6-82329CF3D848}">
  <ds:schemaRefs>
    <ds:schemaRef ds:uri="http://purl.org/dc/terms/"/>
    <ds:schemaRef ds:uri="http://www.w3.org/XML/1998/namespace"/>
    <ds:schemaRef ds:uri="bd7d6c15-f90d-443a-8373-e28167d9eb43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656d5558-7e79-4b11-b4ba-df3db2f96ab3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1022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 Semibold</vt:lpstr>
      <vt:lpstr>Wingdings</vt:lpstr>
      <vt:lpstr>QRAL THEME</vt:lpstr>
      <vt:lpstr>Analytical Case: PINETHASE Sales launch strategy</vt:lpstr>
      <vt:lpstr> </vt:lpstr>
      <vt:lpstr> </vt:lpstr>
      <vt:lpstr>Our client is launching a new product in the US, Pinethase</vt:lpstr>
      <vt:lpstr> </vt:lpstr>
      <vt:lpstr>Appendix</vt:lpstr>
      <vt:lpstr> </vt:lpstr>
      <vt:lpstr>Estimated US incidence of pancreatic cancer</vt:lpstr>
      <vt:lpstr>Medical Oncologist-Focused Journey</vt:lpstr>
      <vt:lpstr>Radiation Oncologist-Focused Journey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Qral Group</dc:creator>
  <cp:lastModifiedBy>Keriann Dignan</cp:lastModifiedBy>
  <cp:revision>11</cp:revision>
  <dcterms:created xsi:type="dcterms:W3CDTF">2016-08-02T21:13:58Z</dcterms:created>
  <dcterms:modified xsi:type="dcterms:W3CDTF">2025-10-02T12:42:39Z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0x010100BE79F8CAFD9818429BD6C85725CC3937</vt:lpwstr>
  </property>
  <property fmtid="{D5CDD505-2E9C-101B-9397-08002B2CF9AE}" pid="3" name="MediaServiceImageTags">
    <vt:lpwstr/>
  </property>
</Properties>
</file>